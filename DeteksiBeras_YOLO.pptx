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70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CC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53" autoAdjust="0"/>
    <p:restoredTop sz="94610"/>
  </p:normalViewPr>
  <p:slideViewPr>
    <p:cSldViewPr snapToGrid="0" snapToObjects="1">
      <p:cViewPr>
        <p:scale>
          <a:sx n="100" d="100"/>
          <a:sy n="100" d="100"/>
        </p:scale>
        <p:origin x="300" y="8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74670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3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657600" cy="3657600"/>
          </a:xfrm>
          <a:prstGeom prst="ellipse">
            <a:avLst/>
          </a:prstGeom>
          <a:solidFill>
            <a:srgbClr val="1A6B4A">
              <a:alpha val="40000"/>
            </a:srgbClr>
          </a:solidFill>
          <a:ln w="12700">
            <a:solidFill>
              <a:srgbClr val="1A6B4A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2ECC8F">
              <a:alpha val="30000"/>
            </a:srgbClr>
          </a:solidFill>
          <a:ln w="12700">
            <a:solidFill>
              <a:srgbClr val="2ECC8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3474720"/>
            <a:ext cx="2286000" cy="2286000"/>
          </a:xfrm>
          <a:prstGeom prst="ellipse">
            <a:avLst/>
          </a:prstGeom>
          <a:solidFill>
            <a:srgbClr val="2ECC8F">
              <a:alpha val="25000"/>
            </a:srgbClr>
          </a:solidFill>
          <a:ln w="12700">
            <a:solidFill>
              <a:srgbClr val="2ECC8F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502920"/>
            <a:ext cx="3747134" cy="347472"/>
          </a:xfrm>
          <a:prstGeom prst="roundRect">
            <a:avLst>
              <a:gd name="adj" fmla="val 13158"/>
            </a:avLst>
          </a:prstGeom>
          <a:solidFill>
            <a:srgbClr val="2ECC8F"/>
          </a:solidFill>
          <a:ln w="12700">
            <a:solidFill>
              <a:srgbClr val="2ECC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39" y="502920"/>
            <a:ext cx="37471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D3B2E"/>
                </a:solidFill>
              </a:rPr>
              <a:t>FINAL PROJECT – MACHINE LEARNING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 Deteksi Jenis Beras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2ECC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Menggunakan YOLO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48640" y="27432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EC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Berbasis Python 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619888" y="3895344"/>
            <a:ext cx="1601869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 err="1">
                <a:solidFill>
                  <a:srgbClr val="8A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Muhibudin</a:t>
            </a:r>
            <a:endParaRPr lang="en-US" sz="1500" i="1" dirty="0">
              <a:solidFill>
                <a:srgbClr val="8ABFA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500" i="1" dirty="0" err="1">
                <a:solidFill>
                  <a:srgbClr val="8A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Pitriyadi</a:t>
            </a:r>
            <a:endParaRPr lang="en-US" sz="1500" i="1" dirty="0">
              <a:solidFill>
                <a:srgbClr val="8ABFA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500" i="1" dirty="0">
                <a:solidFill>
                  <a:srgbClr val="8A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Ramallah Salam</a:t>
            </a:r>
          </a:p>
        </p:txBody>
      </p:sp>
      <p:sp>
        <p:nvSpPr>
          <p:cNvPr id="10" name="Shap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2ECC8F">
              <a:alpha val="60000"/>
            </a:srgbClr>
          </a:solidFill>
          <a:ln w="12700">
            <a:solidFill>
              <a:srgbClr val="2ECC8F">
                <a:alpha val="60000"/>
              </a:srgbClr>
            </a:solidFill>
            <a:prstDash val="solid"/>
          </a:ln>
        </p:spPr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CA87C61E-413F-A8A7-D7AB-9B5720079D51}"/>
              </a:ext>
            </a:extLst>
          </p:cNvPr>
          <p:cNvSpPr/>
          <p:nvPr/>
        </p:nvSpPr>
        <p:spPr>
          <a:xfrm>
            <a:off x="7176371" y="3895344"/>
            <a:ext cx="1601869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8A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23416255201016</a:t>
            </a:r>
          </a:p>
          <a:p>
            <a:r>
              <a:rPr lang="en-US" sz="1500" i="1" dirty="0">
                <a:solidFill>
                  <a:srgbClr val="8A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23416255201236</a:t>
            </a:r>
          </a:p>
          <a:p>
            <a:r>
              <a:rPr lang="en-US" sz="1500" i="1" dirty="0">
                <a:solidFill>
                  <a:srgbClr val="8A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23416255201059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3B2E"/>
          </a:solidFill>
          <a:ln w="12700">
            <a:solidFill>
              <a:srgbClr val="0D3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371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ECC8F"/>
          </a:solidFill>
          <a:ln w="12700">
            <a:solidFill>
              <a:srgbClr val="2ECC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37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3B2E"/>
                </a:solidFill>
              </a:rPr>
              <a:t>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109728"/>
            <a:ext cx="79552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Latar Belakang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863840" y="-274320"/>
            <a:ext cx="1463040" cy="1463040"/>
          </a:xfrm>
          <a:prstGeom prst="ellipse">
            <a:avLst/>
          </a:prstGeom>
          <a:solidFill>
            <a:srgbClr val="2ECC8F">
              <a:alpha val="20000"/>
            </a:srgbClr>
          </a:solidFill>
          <a:ln w="12700">
            <a:solidFill>
              <a:srgbClr val="2ECC8F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143000"/>
            <a:ext cx="8321040" cy="749808"/>
          </a:xfrm>
          <a:prstGeom prst="roundRect">
            <a:avLst>
              <a:gd name="adj" fmla="val 9756"/>
            </a:avLst>
          </a:prstGeom>
          <a:solidFill>
            <a:srgbClr val="F4FAF7"/>
          </a:solidFill>
          <a:ln w="6350">
            <a:solidFill>
              <a:srgbClr val="D0E8D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43000"/>
            <a:ext cx="594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🌾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34440" y="1143000"/>
            <a:ext cx="7223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D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Jenis beras memiliki bentuk, warna, dan tekstur yang mirip satu sama lain.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1480" y="2057400"/>
            <a:ext cx="8321040" cy="749808"/>
          </a:xfrm>
          <a:prstGeom prst="roundRect">
            <a:avLst>
              <a:gd name="adj" fmla="val 9756"/>
            </a:avLst>
          </a:prstGeom>
          <a:solidFill>
            <a:srgbClr val="E8F5F0"/>
          </a:solidFill>
          <a:ln w="6350">
            <a:solidFill>
              <a:srgbClr val="D0E8D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2057400"/>
            <a:ext cx="594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234440" y="2057400"/>
            <a:ext cx="7223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D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Identifikasi manual bisa tidak konsisten dan membutuhkan keahlian khusus.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2971800"/>
            <a:ext cx="8321040" cy="749808"/>
          </a:xfrm>
          <a:prstGeom prst="roundRect">
            <a:avLst>
              <a:gd name="adj" fmla="val 9756"/>
            </a:avLst>
          </a:prstGeom>
          <a:solidFill>
            <a:srgbClr val="F4FAF7"/>
          </a:solidFill>
          <a:ln w="6350">
            <a:solidFill>
              <a:srgbClr val="D0E8D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2971800"/>
            <a:ext cx="594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234440" y="2971800"/>
            <a:ext cx="7223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D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dapat membantu mengenali jenis beras secara otomatis dan akurat.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11480" y="3886200"/>
            <a:ext cx="8321040" cy="749808"/>
          </a:xfrm>
          <a:prstGeom prst="roundRect">
            <a:avLst>
              <a:gd name="adj" fmla="val 9756"/>
            </a:avLst>
          </a:prstGeom>
          <a:solidFill>
            <a:srgbClr val="E8F5F0"/>
          </a:solidFill>
          <a:ln w="6350">
            <a:solidFill>
              <a:srgbClr val="D0E8D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" y="3886200"/>
            <a:ext cx="594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234440" y="3886200"/>
            <a:ext cx="7223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D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 digunakan agar sistem dapat memberi label dan bounding box pada gambar.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3B2E"/>
          </a:solidFill>
          <a:ln w="12700">
            <a:solidFill>
              <a:srgbClr val="0D3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371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ECC8F"/>
          </a:solidFill>
          <a:ln w="12700">
            <a:solidFill>
              <a:srgbClr val="2ECC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37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3B2E"/>
                </a:solidFill>
              </a:rPr>
              <a:t>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109728"/>
            <a:ext cx="79552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Alur Project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863840" y="-274320"/>
            <a:ext cx="1463040" cy="1463040"/>
          </a:xfrm>
          <a:prstGeom prst="ellipse">
            <a:avLst/>
          </a:prstGeom>
          <a:solidFill>
            <a:srgbClr val="2ECC8F">
              <a:alpha val="20000"/>
            </a:srgbClr>
          </a:solidFill>
          <a:ln w="12700">
            <a:solidFill>
              <a:srgbClr val="2ECC8F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143000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F4FAF7"/>
          </a:solidFill>
          <a:ln w="15240">
            <a:solidFill>
              <a:srgbClr val="2ECC8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21208" y="1298448"/>
            <a:ext cx="512064" cy="512064"/>
          </a:xfrm>
          <a:prstGeom prst="ellipse">
            <a:avLst/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" y="12984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114300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D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Menyiapkan dataset gambar beras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11480" y="2167128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F4FAF7"/>
          </a:solidFill>
          <a:ln w="15240">
            <a:solidFill>
              <a:srgbClr val="2ECC8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21208" y="2322576"/>
            <a:ext cx="512064" cy="512064"/>
          </a:xfrm>
          <a:prstGeom prst="ellipse">
            <a:avLst/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" y="23225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2167128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D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Mengubah dataset ke format YOLO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11480" y="3191256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F4FAF7"/>
          </a:solidFill>
          <a:ln w="15240">
            <a:solidFill>
              <a:srgbClr val="2ECC8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21208" y="3346704"/>
            <a:ext cx="512064" cy="512064"/>
          </a:xfrm>
          <a:prstGeom prst="ellipse">
            <a:avLst/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" y="33467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3191256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D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Melatih model deteksi objek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754880" y="1143000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F4FAF7"/>
          </a:solidFill>
          <a:ln w="15240">
            <a:solidFill>
              <a:srgbClr val="2ECC8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64608" y="1298448"/>
            <a:ext cx="512064" cy="512064"/>
          </a:xfrm>
          <a:prstGeom prst="ellipse">
            <a:avLst/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64608" y="12984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0" y="114300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D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Mengevaluasi hasil model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4754880" y="2167128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F4FAF7"/>
          </a:solidFill>
          <a:ln w="15240">
            <a:solidFill>
              <a:srgbClr val="2ECC8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64608" y="2322576"/>
            <a:ext cx="512064" cy="512064"/>
          </a:xfrm>
          <a:prstGeom prst="ellipse">
            <a:avLst/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64608" y="23225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0" y="2167128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D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GUI untuk prediksi dan demo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3B2E"/>
          </a:solidFill>
          <a:ln w="12700">
            <a:solidFill>
              <a:srgbClr val="0D3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22885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ECC8F"/>
          </a:solidFill>
          <a:ln w="12700">
            <a:solidFill>
              <a:srgbClr val="2ECC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2288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3B2E"/>
                </a:solidFill>
              </a:rPr>
              <a:t>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109728"/>
            <a:ext cx="79552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Struktur Folder Project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863840" y="-274320"/>
            <a:ext cx="1463040" cy="1463040"/>
          </a:xfrm>
          <a:prstGeom prst="ellipse">
            <a:avLst/>
          </a:prstGeom>
          <a:solidFill>
            <a:srgbClr val="2ECC8F">
              <a:alpha val="20000"/>
            </a:srgbClr>
          </a:solidFill>
          <a:ln w="12700">
            <a:solidFill>
              <a:srgbClr val="2ECC8F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051560"/>
            <a:ext cx="3657600" cy="3520440"/>
          </a:xfrm>
          <a:prstGeom prst="roundRect">
            <a:avLst>
              <a:gd name="adj" fmla="val 2597"/>
            </a:avLst>
          </a:prstGeom>
          <a:solidFill>
            <a:srgbClr val="1E2D27"/>
          </a:solidFill>
          <a:ln w="6350">
            <a:solidFill>
              <a:srgbClr val="2ECC8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051560"/>
            <a:ext cx="3657600" cy="347472"/>
          </a:xfrm>
          <a:prstGeom prst="roundRect">
            <a:avLst>
              <a:gd name="adj" fmla="val 26316"/>
            </a:avLst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05156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📁 Struktur Direktori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1463040"/>
            <a:ext cx="32918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7EFF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UAS_ML/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EFF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dataset/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EFF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50" dirty="0" err="1">
                <a:solidFill>
                  <a:srgbClr val="7EFF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hasil_prediksi</a:t>
            </a:r>
            <a:r>
              <a:rPr lang="en-US" sz="1250" dirty="0">
                <a:solidFill>
                  <a:srgbClr val="7EFF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</a:p>
          <a:p>
            <a:pPr marL="0" indent="0">
              <a:buNone/>
            </a:pPr>
            <a:r>
              <a:rPr lang="en-US" sz="1250" dirty="0">
                <a:solidFill>
                  <a:srgbClr val="7EFF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runs/</a:t>
            </a:r>
          </a:p>
          <a:p>
            <a:r>
              <a:rPr lang="en-US" sz="1250" dirty="0">
                <a:solidFill>
                  <a:srgbClr val="7EFF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50" dirty="0" err="1">
                <a:solidFill>
                  <a:srgbClr val="7EFF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yolo_rice_dataset</a:t>
            </a:r>
            <a:r>
              <a:rPr lang="en-US" sz="1250" dirty="0">
                <a:solidFill>
                  <a:srgbClr val="7EFF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</a:p>
          <a:p>
            <a:r>
              <a:rPr lang="en-US" sz="1250" dirty="0">
                <a:solidFill>
                  <a:srgbClr val="7EFFD3"/>
                </a:solidFill>
                <a:latin typeface="Courier New" pitchFamily="34" charset="0"/>
                <a:cs typeface="Courier New" pitchFamily="34" charset="-120"/>
              </a:rPr>
              <a:t>  app_browser.py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EFF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requirements.txt</a:t>
            </a:r>
          </a:p>
          <a:p>
            <a:pPr marL="0" indent="0">
              <a:buNone/>
            </a:pPr>
            <a:r>
              <a:rPr lang="en-US" sz="1250" dirty="0">
                <a:solidFill>
                  <a:srgbClr val="7EFF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rename_manifest.csv</a:t>
            </a:r>
          </a:p>
          <a:p>
            <a:r>
              <a:rPr lang="en-US" sz="1250" dirty="0">
                <a:solidFill>
                  <a:srgbClr val="7EFFD3"/>
                </a:solidFill>
                <a:latin typeface="Courier New" pitchFamily="34" charset="0"/>
                <a:cs typeface="Courier New" pitchFamily="34" charset="-120"/>
              </a:rPr>
              <a:t>  </a:t>
            </a:r>
            <a:r>
              <a:rPr lang="en-US" sz="1250" dirty="0">
                <a:solidFill>
                  <a:srgbClr val="7EFF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run.py</a:t>
            </a:r>
          </a:p>
          <a:p>
            <a:r>
              <a:rPr lang="en-US" sz="1250" dirty="0">
                <a:solidFill>
                  <a:srgbClr val="7EFFD3"/>
                </a:solidFill>
                <a:latin typeface="Courier New" pitchFamily="34" charset="0"/>
                <a:cs typeface="Courier New" pitchFamily="34" charset="-120"/>
              </a:rPr>
              <a:t>  yolo26n.pt</a:t>
            </a:r>
          </a:p>
          <a:p>
            <a:r>
              <a:rPr lang="en-US" sz="1250" dirty="0">
                <a:solidFill>
                  <a:srgbClr val="7EFFD3"/>
                </a:solidFill>
                <a:latin typeface="Courier New" pitchFamily="34" charset="0"/>
                <a:cs typeface="Courier New" pitchFamily="34" charset="-120"/>
              </a:rPr>
              <a:t>  yolov8n.pt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89120" y="1051560"/>
            <a:ext cx="4343400" cy="749808"/>
          </a:xfrm>
          <a:prstGeom prst="roundRect">
            <a:avLst>
              <a:gd name="adj" fmla="val 9756"/>
            </a:avLst>
          </a:prstGeom>
          <a:solidFill>
            <a:srgbClr val="F4FAF7"/>
          </a:solidFill>
          <a:ln w="6350">
            <a:solidFill>
              <a:srgbClr val="D0E8D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0" y="1088136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6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dataset/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0" y="14173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 </a:t>
            </a:r>
            <a:r>
              <a:rPr lang="en-US" sz="1200" dirty="0" err="1">
                <a:solidFill>
                  <a:srgbClr val="5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beras</a:t>
            </a:r>
            <a:r>
              <a:rPr lang="en-US" sz="1200" dirty="0">
                <a:solidFill>
                  <a:srgbClr val="5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kelas beras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89120" y="1938528"/>
            <a:ext cx="4343400" cy="749808"/>
          </a:xfrm>
          <a:prstGeom prst="roundRect">
            <a:avLst>
              <a:gd name="adj" fmla="val 9756"/>
            </a:avLst>
          </a:prstGeom>
          <a:solidFill>
            <a:srgbClr val="F4FAF7"/>
          </a:solidFill>
          <a:ln w="6350">
            <a:solidFill>
              <a:srgbClr val="D0E8D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0" y="1975104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6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yolo_rice_dataset/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0" y="230428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hasil konversi YOLO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89120" y="2825496"/>
            <a:ext cx="4343400" cy="749808"/>
          </a:xfrm>
          <a:prstGeom prst="roundRect">
            <a:avLst>
              <a:gd name="adj" fmla="val 9756"/>
            </a:avLst>
          </a:prstGeom>
          <a:solidFill>
            <a:srgbClr val="F4FAF7"/>
          </a:solidFill>
          <a:ln w="6350">
            <a:solidFill>
              <a:srgbClr val="D0E8D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0" y="286207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6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runs/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0" y="3191256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training dan model tersimpan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89120" y="3712464"/>
            <a:ext cx="4343400" cy="749808"/>
          </a:xfrm>
          <a:prstGeom prst="roundRect">
            <a:avLst>
              <a:gd name="adj" fmla="val 9756"/>
            </a:avLst>
          </a:prstGeom>
          <a:solidFill>
            <a:srgbClr val="F4FAF7"/>
          </a:solidFill>
          <a:ln w="6350">
            <a:solidFill>
              <a:srgbClr val="D0E8D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0" y="37490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6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hasil_prediksi/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0" y="4078224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gambar prediksi dari GUI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3B2E"/>
          </a:solidFill>
          <a:ln w="12700">
            <a:solidFill>
              <a:srgbClr val="0D3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3241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ECC8F"/>
          </a:solidFill>
          <a:ln w="12700">
            <a:solidFill>
              <a:srgbClr val="2ECC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3241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3B2E"/>
                </a:solidFill>
              </a:rPr>
              <a:t>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109728"/>
            <a:ext cx="79552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863840" y="-274320"/>
            <a:ext cx="1463040" cy="1463040"/>
          </a:xfrm>
          <a:prstGeom prst="ellipse">
            <a:avLst/>
          </a:prstGeom>
          <a:solidFill>
            <a:srgbClr val="2ECC8F">
              <a:alpha val="20000"/>
            </a:srgbClr>
          </a:solidFill>
          <a:ln w="12700">
            <a:solidFill>
              <a:srgbClr val="2ECC8F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078992"/>
            <a:ext cx="8321040" cy="640080"/>
          </a:xfrm>
          <a:prstGeom prst="roundRect">
            <a:avLst>
              <a:gd name="adj" fmla="val 14286"/>
            </a:avLst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78992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Total Dataset: </a:t>
            </a:r>
            <a:r>
              <a:rPr lang="en-US" sz="2400" b="1" dirty="0">
                <a:solidFill>
                  <a:srgbClr val="F0A500"/>
                </a:solidFill>
              </a:rPr>
              <a:t>718</a:t>
            </a:r>
            <a:r>
              <a:rPr lang="en-US" sz="1600" dirty="0">
                <a:solidFill>
                  <a:srgbClr val="E8F5F0"/>
                </a:solidFill>
              </a:rPr>
              <a:t> gambar  •  7 Kelas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11480" y="187452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F4FAF7"/>
          </a:solidFill>
          <a:ln w="6350">
            <a:solidFill>
              <a:srgbClr val="D0E8D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761488"/>
            <a:ext cx="1645920" cy="146304"/>
          </a:xfrm>
          <a:prstGeom prst="roundRect">
            <a:avLst>
              <a:gd name="adj" fmla="val 25000"/>
            </a:avLst>
          </a:prstGeom>
          <a:solidFill>
            <a:srgbClr val="D0E8DC"/>
          </a:solidFill>
          <a:ln w="12700">
            <a:solidFill>
              <a:srgbClr val="D0E8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761488"/>
            <a:ext cx="1440180" cy="146304"/>
          </a:xfrm>
          <a:prstGeom prst="roundRect">
            <a:avLst>
              <a:gd name="adj" fmla="val 25000"/>
            </a:avLst>
          </a:prstGeom>
          <a:solidFill>
            <a:srgbClr val="2ECC8F"/>
          </a:solidFill>
          <a:ln w="12700">
            <a:solidFill>
              <a:srgbClr val="2ECC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929384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D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Beras_Gundukan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233172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2514600" y="187452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F4FAF7"/>
          </a:solidFill>
          <a:ln w="6350">
            <a:solidFill>
              <a:srgbClr val="D0E8D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651760" y="2761488"/>
            <a:ext cx="1645920" cy="146304"/>
          </a:xfrm>
          <a:prstGeom prst="roundRect">
            <a:avLst>
              <a:gd name="adj" fmla="val 25000"/>
            </a:avLst>
          </a:prstGeom>
          <a:solidFill>
            <a:srgbClr val="D0E8DC"/>
          </a:solidFill>
          <a:ln w="12700">
            <a:solidFill>
              <a:srgbClr val="D0E8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51760" y="2761488"/>
            <a:ext cx="1399032" cy="146304"/>
          </a:xfrm>
          <a:prstGeom prst="roundRect">
            <a:avLst>
              <a:gd name="adj" fmla="val 25000"/>
            </a:avLst>
          </a:prstGeom>
          <a:solidFill>
            <a:srgbClr val="2ECC8F"/>
          </a:solidFill>
          <a:ln w="12700">
            <a:solidFill>
              <a:srgbClr val="2ECC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06040" y="1929384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D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Beras_Patahan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606040" y="233172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4617720" y="187452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F4FAF7"/>
          </a:solidFill>
          <a:ln w="6350">
            <a:solidFill>
              <a:srgbClr val="D0E8D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761488"/>
            <a:ext cx="1645920" cy="146304"/>
          </a:xfrm>
          <a:prstGeom prst="roundRect">
            <a:avLst>
              <a:gd name="adj" fmla="val 25000"/>
            </a:avLst>
          </a:prstGeom>
          <a:solidFill>
            <a:srgbClr val="D0E8DC"/>
          </a:solidFill>
          <a:ln w="12700">
            <a:solidFill>
              <a:srgbClr val="D0E8D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2761488"/>
            <a:ext cx="1549908" cy="146304"/>
          </a:xfrm>
          <a:prstGeom prst="roundRect">
            <a:avLst>
              <a:gd name="adj" fmla="val 25000"/>
            </a:avLst>
          </a:prstGeom>
          <a:solidFill>
            <a:srgbClr val="2ECC8F"/>
          </a:solidFill>
          <a:ln w="12700">
            <a:solidFill>
              <a:srgbClr val="2ECC8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1929384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D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Beras_Utuh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709160" y="233172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113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6720840" y="187452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F4FAF7"/>
          </a:solidFill>
          <a:ln w="6350">
            <a:solidFill>
              <a:srgbClr val="D0E8D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58000" y="2761488"/>
            <a:ext cx="1645920" cy="146304"/>
          </a:xfrm>
          <a:prstGeom prst="roundRect">
            <a:avLst>
              <a:gd name="adj" fmla="val 25000"/>
            </a:avLst>
          </a:prstGeom>
          <a:solidFill>
            <a:srgbClr val="D0E8DC"/>
          </a:solidFill>
          <a:ln w="12700">
            <a:solidFill>
              <a:srgbClr val="D0E8D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58000" y="2761488"/>
            <a:ext cx="1577340" cy="146304"/>
          </a:xfrm>
          <a:prstGeom prst="roundRect">
            <a:avLst>
              <a:gd name="adj" fmla="val 25000"/>
            </a:avLst>
          </a:prstGeom>
          <a:solidFill>
            <a:srgbClr val="2ECC8F"/>
          </a:solidFill>
          <a:ln w="12700">
            <a:solidFill>
              <a:srgbClr val="2ECC8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12280" y="1929384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D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IR42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812280" y="233172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411480" y="333756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F4FAF7"/>
          </a:solidFill>
          <a:ln w="6350">
            <a:solidFill>
              <a:srgbClr val="D0E8D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8640" y="4224528"/>
            <a:ext cx="1645920" cy="146304"/>
          </a:xfrm>
          <a:prstGeom prst="roundRect">
            <a:avLst>
              <a:gd name="adj" fmla="val 25000"/>
            </a:avLst>
          </a:prstGeom>
          <a:solidFill>
            <a:srgbClr val="D0E8DC"/>
          </a:solidFill>
          <a:ln w="12700">
            <a:solidFill>
              <a:srgbClr val="D0E8D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4224528"/>
            <a:ext cx="1152144" cy="146304"/>
          </a:xfrm>
          <a:prstGeom prst="roundRect">
            <a:avLst>
              <a:gd name="adj" fmla="val 25000"/>
            </a:avLst>
          </a:prstGeom>
          <a:solidFill>
            <a:srgbClr val="2ECC8F"/>
          </a:solidFill>
          <a:ln w="12700">
            <a:solidFill>
              <a:srgbClr val="2ECC8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3392424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D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IR64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02920" y="379476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2514600" y="333756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F4FAF7"/>
          </a:solidFill>
          <a:ln w="6350">
            <a:solidFill>
              <a:srgbClr val="D0E8D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651760" y="4224528"/>
            <a:ext cx="1645920" cy="146304"/>
          </a:xfrm>
          <a:prstGeom prst="roundRect">
            <a:avLst>
              <a:gd name="adj" fmla="val 25000"/>
            </a:avLst>
          </a:prstGeom>
          <a:solidFill>
            <a:srgbClr val="D0E8DC"/>
          </a:solidFill>
          <a:ln w="12700">
            <a:solidFill>
              <a:srgbClr val="D0E8D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651760" y="4224528"/>
            <a:ext cx="1399032" cy="146304"/>
          </a:xfrm>
          <a:prstGeom prst="roundRect">
            <a:avLst>
              <a:gd name="adj" fmla="val 25000"/>
            </a:avLst>
          </a:prstGeom>
          <a:solidFill>
            <a:srgbClr val="2ECC8F"/>
          </a:solidFill>
          <a:ln w="12700">
            <a:solidFill>
              <a:srgbClr val="2ECC8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606040" y="3392424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D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Ketan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2606040" y="379476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</a:t>
            </a:r>
            <a:endParaRPr lang="en-US" sz="2200" dirty="0"/>
          </a:p>
        </p:txBody>
      </p:sp>
      <p:sp>
        <p:nvSpPr>
          <p:cNvPr id="39" name="Shape 37"/>
          <p:cNvSpPr/>
          <p:nvPr/>
        </p:nvSpPr>
        <p:spPr>
          <a:xfrm>
            <a:off x="4617720" y="333756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F4FAF7"/>
          </a:solidFill>
          <a:ln w="6350">
            <a:solidFill>
              <a:srgbClr val="D0E8D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54880" y="4224528"/>
            <a:ext cx="1645920" cy="146304"/>
          </a:xfrm>
          <a:prstGeom prst="roundRect">
            <a:avLst>
              <a:gd name="adj" fmla="val 25000"/>
            </a:avLst>
          </a:prstGeom>
          <a:solidFill>
            <a:srgbClr val="D0E8DC"/>
          </a:solidFill>
          <a:ln w="12700">
            <a:solidFill>
              <a:srgbClr val="D0E8D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54880" y="4224528"/>
            <a:ext cx="1330452" cy="146304"/>
          </a:xfrm>
          <a:prstGeom prst="roundRect">
            <a:avLst>
              <a:gd name="adj" fmla="val 25000"/>
            </a:avLst>
          </a:prstGeom>
          <a:solidFill>
            <a:srgbClr val="2ECC8F"/>
          </a:solidFill>
          <a:ln w="12700">
            <a:solidFill>
              <a:srgbClr val="2ECC8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09160" y="3392424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D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Pandan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4709160" y="379476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3B2E"/>
          </a:solidFill>
          <a:ln w="12700">
            <a:solidFill>
              <a:srgbClr val="0D3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41935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ECC8F"/>
          </a:solidFill>
          <a:ln w="12700">
            <a:solidFill>
              <a:srgbClr val="2ECC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4193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3B2E"/>
                </a:solidFill>
              </a:rPr>
              <a:t>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109728"/>
            <a:ext cx="79552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 Dataset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863840" y="-274320"/>
            <a:ext cx="1463040" cy="1463040"/>
          </a:xfrm>
          <a:prstGeom prst="ellipse">
            <a:avLst/>
          </a:prstGeom>
          <a:solidFill>
            <a:srgbClr val="2ECC8F">
              <a:alpha val="20000"/>
            </a:srgbClr>
          </a:solidFill>
          <a:ln w="12700">
            <a:solidFill>
              <a:srgbClr val="2ECC8F">
                <a:alpha val="2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Penamaan file gambar dirapikan sesuai kelas masing-masing untuk konsistensi dataset.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1554480"/>
            <a:ext cx="8321040" cy="1463040"/>
          </a:xfrm>
          <a:prstGeom prst="roundRect">
            <a:avLst>
              <a:gd name="adj" fmla="val 6250"/>
            </a:avLst>
          </a:prstGeom>
          <a:solidFill>
            <a:srgbClr val="1E2D27"/>
          </a:solidFill>
          <a:ln w="6350">
            <a:solidFill>
              <a:srgbClr val="2ECC8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554480"/>
            <a:ext cx="8321040" cy="347472"/>
          </a:xfrm>
          <a:prstGeom prst="roundRect">
            <a:avLst>
              <a:gd name="adj" fmla="val 26316"/>
            </a:avLst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5544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Contoh Penamaan File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96596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ECC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IR42_000001.jpg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EFF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Pandan_000001.jpg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Beras_Patahan_000001.jpg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11480" y="3154680"/>
            <a:ext cx="8321040" cy="1463040"/>
          </a:xfrm>
          <a:prstGeom prst="roundRect">
            <a:avLst>
              <a:gd name="adj" fmla="val 6250"/>
            </a:avLst>
          </a:prstGeom>
          <a:solidFill>
            <a:srgbClr val="E8F5F0"/>
          </a:solidFill>
          <a:ln w="10160">
            <a:solidFill>
              <a:srgbClr val="2ECC8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3246120"/>
            <a:ext cx="640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📄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325880" y="3291840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Manifest Perubahan Nama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25880" y="3712464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rename_manifest.csv</a:t>
            </a:r>
            <a:endParaRPr lang="en-US" sz="14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1325880" y="4114800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perubahan nama file direkam dalam file CSV ini untuk traceability.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3B2E"/>
          </a:solidFill>
          <a:ln w="12700">
            <a:solidFill>
              <a:srgbClr val="0D3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3241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ECC8F"/>
          </a:solidFill>
          <a:ln w="12700">
            <a:solidFill>
              <a:srgbClr val="2ECC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3241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3B2E"/>
                </a:solidFill>
              </a:rPr>
              <a:t>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109728"/>
            <a:ext cx="79552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Konversi ke Format YOLO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863840" y="-274320"/>
            <a:ext cx="1463040" cy="1463040"/>
          </a:xfrm>
          <a:prstGeom prst="ellipse">
            <a:avLst/>
          </a:prstGeom>
          <a:solidFill>
            <a:srgbClr val="2ECC8F">
              <a:alpha val="20000"/>
            </a:srgbClr>
          </a:solidFill>
          <a:ln w="12700">
            <a:solidFill>
              <a:srgbClr val="2ECC8F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005840"/>
            <a:ext cx="4114800" cy="3611880"/>
          </a:xfrm>
          <a:prstGeom prst="roundRect">
            <a:avLst>
              <a:gd name="adj" fmla="val 2532"/>
            </a:avLst>
          </a:prstGeom>
          <a:solidFill>
            <a:srgbClr val="1E2D27"/>
          </a:solidFill>
          <a:ln w="6350">
            <a:solidFill>
              <a:srgbClr val="2ECC8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005840"/>
            <a:ext cx="4114800" cy="347472"/>
          </a:xfrm>
          <a:prstGeom prst="roundRect">
            <a:avLst>
              <a:gd name="adj" fmla="val 26316"/>
            </a:avLst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0058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Script &amp; Command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144475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utama: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176479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CC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run.py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22402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Command: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578608"/>
            <a:ext cx="3657600" cy="457200"/>
          </a:xfrm>
          <a:prstGeom prst="roundRect">
            <a:avLst>
              <a:gd name="adj" fmla="val 12000"/>
            </a:avLst>
          </a:prstGeom>
          <a:solidFill>
            <a:srgbClr val="0A1E17"/>
          </a:solidFill>
          <a:ln w="6350">
            <a:solidFill>
              <a:srgbClr val="2ECC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57860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EFF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run.py prepare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63440" y="1005840"/>
            <a:ext cx="4069080" cy="3611880"/>
          </a:xfrm>
          <a:prstGeom prst="roundRect">
            <a:avLst>
              <a:gd name="adj" fmla="val 2532"/>
            </a:avLst>
          </a:prstGeom>
          <a:solidFill>
            <a:srgbClr val="F4FAF7"/>
          </a:solidFill>
          <a:ln w="6350">
            <a:solidFill>
              <a:srgbClr val="D0E8D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005840"/>
            <a:ext cx="4069080" cy="347472"/>
          </a:xfrm>
          <a:prstGeom prst="roundRect">
            <a:avLst>
              <a:gd name="adj" fmla="val 26316"/>
            </a:avLst>
          </a:prstGeom>
          <a:solidFill>
            <a:srgbClr val="2ECC8F"/>
          </a:solidFill>
          <a:ln w="12700">
            <a:solidFill>
              <a:srgbClr val="2ECC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00584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3B2E"/>
                </a:solidFill>
              </a:rPr>
              <a:t>Output Struktur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1444752"/>
            <a:ext cx="37490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D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yolo_rice_dataset/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D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images/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D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train/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D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val/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D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test/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D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labels/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D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train/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D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val/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D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test/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D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data.yaml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3B2E"/>
          </a:solidFill>
          <a:ln w="12700">
            <a:solidFill>
              <a:srgbClr val="0D3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22885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ECC8F"/>
          </a:solidFill>
          <a:ln w="12700">
            <a:solidFill>
              <a:srgbClr val="2ECC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2288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3B2E"/>
                </a:solidFill>
              </a:rPr>
              <a:t>8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109728"/>
            <a:ext cx="79552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Pembagian Dataset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863840" y="-274320"/>
            <a:ext cx="1463040" cy="1463040"/>
          </a:xfrm>
          <a:prstGeom prst="ellipse">
            <a:avLst/>
          </a:prstGeom>
          <a:solidFill>
            <a:srgbClr val="2ECC8F">
              <a:alpha val="20000"/>
            </a:srgbClr>
          </a:solidFill>
          <a:ln w="12700">
            <a:solidFill>
              <a:srgbClr val="2ECC8F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05156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F4FAF7"/>
          </a:solidFill>
          <a:ln w="6350">
            <a:solidFill>
              <a:srgbClr val="D0E8D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051560"/>
            <a:ext cx="2606040" cy="658368"/>
          </a:xfrm>
          <a:prstGeom prst="roundRect">
            <a:avLst>
              <a:gd name="adj" fmla="val 13889"/>
            </a:avLst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05156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3B2E"/>
                </a:solidFill>
              </a:rPr>
              <a:t>Train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11480" y="1755648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499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411480" y="256032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28346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69.5%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46120" y="105156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F4FAF7"/>
          </a:solidFill>
          <a:ln w="6350">
            <a:solidFill>
              <a:srgbClr val="D0E8D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1051560"/>
            <a:ext cx="2606040" cy="658368"/>
          </a:xfrm>
          <a:prstGeom prst="roundRect">
            <a:avLst>
              <a:gd name="adj" fmla="val 13889"/>
            </a:avLst>
          </a:prstGeom>
          <a:solidFill>
            <a:srgbClr val="2ECC8F"/>
          </a:solidFill>
          <a:ln w="12700">
            <a:solidFill>
              <a:srgbClr val="2ECC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105156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3B2E"/>
                </a:solidFill>
              </a:rPr>
              <a:t>Validation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246120" y="1755648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2EC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141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3246120" y="256032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46120" y="28346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19.6%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080760" y="105156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F4FAF7"/>
          </a:solidFill>
          <a:ln w="6350">
            <a:solidFill>
              <a:srgbClr val="D0E8D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80760" y="1051560"/>
            <a:ext cx="2606040" cy="658368"/>
          </a:xfrm>
          <a:prstGeom prst="roundRect">
            <a:avLst>
              <a:gd name="adj" fmla="val 13889"/>
            </a:avLst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80760" y="105156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3B2E"/>
                </a:solidFill>
              </a:rPr>
              <a:t>Test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080760" y="1755648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</a:t>
            </a:r>
            <a:endParaRPr lang="en-US" sz="4200" dirty="0"/>
          </a:p>
        </p:txBody>
      </p:sp>
      <p:sp>
        <p:nvSpPr>
          <p:cNvPr id="23" name="Text 21"/>
          <p:cNvSpPr/>
          <p:nvPr/>
        </p:nvSpPr>
        <p:spPr>
          <a:xfrm>
            <a:off x="6080760" y="256032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080760" y="28346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10.9%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11480" y="3429000"/>
            <a:ext cx="3977640" cy="1463040"/>
          </a:xfrm>
          <a:prstGeom prst="roundRect">
            <a:avLst>
              <a:gd name="adj" fmla="val 6250"/>
            </a:avLst>
          </a:prstGeom>
          <a:solidFill>
            <a:srgbClr val="1E2D27"/>
          </a:solidFill>
          <a:ln w="6350">
            <a:solidFill>
              <a:srgbClr val="2ECC8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5204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C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data.yaml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" y="38404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B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yolo_rice_dataset/data.yaml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" y="42062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Konfigurasi path dan kelas untuk training YOLO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17720" y="3429000"/>
            <a:ext cx="4114800" cy="1463040"/>
          </a:xfrm>
          <a:prstGeom prst="roundRect">
            <a:avLst>
              <a:gd name="adj" fmla="val 6250"/>
            </a:avLst>
          </a:prstGeom>
          <a:solidFill>
            <a:srgbClr val="1E2D27"/>
          </a:solidFill>
          <a:ln w="6350">
            <a:solidFill>
              <a:srgbClr val="2ECC8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35204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C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dataset_summary.csv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46320" y="38404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B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yolo_rice_dataset/dataset_summary.csv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46320" y="42062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ringkasan statistik distribusi dataset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3B2E"/>
          </a:solidFill>
          <a:ln w="12700">
            <a:solidFill>
              <a:srgbClr val="0D3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3241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ECC8F"/>
          </a:solidFill>
          <a:ln w="12700">
            <a:solidFill>
              <a:srgbClr val="2ECC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3241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3B2E"/>
                </a:solidFill>
              </a:rPr>
              <a:t>9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109728"/>
            <a:ext cx="79552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Model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863840" y="-274320"/>
            <a:ext cx="1463040" cy="1463040"/>
          </a:xfrm>
          <a:prstGeom prst="ellipse">
            <a:avLst/>
          </a:prstGeom>
          <a:solidFill>
            <a:srgbClr val="2ECC8F">
              <a:alpha val="20000"/>
            </a:srgbClr>
          </a:solidFill>
          <a:ln w="12700">
            <a:solidFill>
              <a:srgbClr val="2ECC8F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097280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F4FAF7"/>
          </a:solidFill>
          <a:ln w="6350">
            <a:solidFill>
              <a:srgbClr val="D0E8D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3385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426464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6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YOLOv8n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11480" y="2011680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F4FAF7"/>
          </a:solidFill>
          <a:ln w="6350">
            <a:solidFill>
              <a:srgbClr val="D0E8D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04825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Weight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340864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6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yolov8n.pt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11480" y="2926080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F4FAF7"/>
          </a:solidFill>
          <a:ln w="6350">
            <a:solidFill>
              <a:srgbClr val="D0E8D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296265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3255264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6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663440" y="1097280"/>
            <a:ext cx="4069080" cy="1005840"/>
          </a:xfrm>
          <a:prstGeom prst="roundRect">
            <a:avLst>
              <a:gd name="adj" fmla="val 9091"/>
            </a:avLst>
          </a:prstGeom>
          <a:solidFill>
            <a:srgbClr val="1E2D27"/>
          </a:solidFill>
          <a:ln w="6350">
            <a:solidFill>
              <a:srgbClr val="2ECC8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097280"/>
            <a:ext cx="4069080" cy="347472"/>
          </a:xfrm>
          <a:prstGeom prst="roundRect">
            <a:avLst>
              <a:gd name="adj" fmla="val 26316"/>
            </a:avLst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109728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Command Training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15087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EFF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run.py train --epochs 50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663440" y="2286000"/>
            <a:ext cx="4069080" cy="1554480"/>
          </a:xfrm>
          <a:prstGeom prst="roundRect">
            <a:avLst>
              <a:gd name="adj" fmla="val 5882"/>
            </a:avLst>
          </a:prstGeom>
          <a:solidFill>
            <a:srgbClr val="1E2D27"/>
          </a:solidFill>
          <a:ln w="6350">
            <a:solidFill>
              <a:srgbClr val="2ECC8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2286000"/>
            <a:ext cx="4069080" cy="347472"/>
          </a:xfrm>
          <a:prstGeom prst="roundRect">
            <a:avLst>
              <a:gd name="adj" fmla="val 26316"/>
            </a:avLst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228600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Model Tersimpan di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269748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EFF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runs/detect/runs/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EFF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rice_detection/weights/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EFF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best.pt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11480" y="4023360"/>
            <a:ext cx="8321040" cy="822960"/>
          </a:xfrm>
          <a:prstGeom prst="roundRect">
            <a:avLst>
              <a:gd name="adj" fmla="val 8889"/>
            </a:avLst>
          </a:prstGeom>
          <a:solidFill>
            <a:srgbClr val="E8F5F0"/>
          </a:solidFill>
          <a:ln w="10160">
            <a:solidFill>
              <a:srgbClr val="2ECC8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4023360"/>
            <a:ext cx="7955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D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YOLOv8n adalah varian nano (paling ringan) </a:t>
            </a:r>
            <a:r>
              <a:rPr lang="en-US" sz="1300" dirty="0" err="1">
                <a:solidFill>
                  <a:srgbClr val="1E2D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</a:t>
            </a:r>
            <a:r>
              <a:rPr lang="en-US" sz="1300" dirty="0">
                <a:solidFill>
                  <a:srgbClr val="1E2D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YOLOv8 </a:t>
            </a:r>
            <a:r>
              <a:rPr lang="en-US" sz="1300" dirty="0" err="1">
                <a:solidFill>
                  <a:srgbClr val="1E2D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karena</a:t>
            </a:r>
            <a:r>
              <a:rPr lang="en-US" sz="1300" dirty="0">
                <a:solidFill>
                  <a:srgbClr val="1E2D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ideal untuk training cepat dan efisien.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3B2E"/>
          </a:solidFill>
          <a:ln w="12700">
            <a:solidFill>
              <a:srgbClr val="0D3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41935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ECC8F"/>
          </a:solidFill>
          <a:ln w="12700">
            <a:solidFill>
              <a:srgbClr val="2ECC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4193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3B2E"/>
                </a:solidFill>
              </a:rPr>
              <a:t>10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109728"/>
            <a:ext cx="79552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Evaluasi Model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863840" y="-274320"/>
            <a:ext cx="1463040" cy="1463040"/>
          </a:xfrm>
          <a:prstGeom prst="ellipse">
            <a:avLst/>
          </a:prstGeom>
          <a:solidFill>
            <a:srgbClr val="2ECC8F">
              <a:alpha val="20000"/>
            </a:srgbClr>
          </a:solidFill>
          <a:ln w="12700">
            <a:solidFill>
              <a:srgbClr val="2ECC8F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005840"/>
            <a:ext cx="8321040" cy="960120"/>
          </a:xfrm>
          <a:prstGeom prst="roundRect">
            <a:avLst>
              <a:gd name="adj" fmla="val 9524"/>
            </a:avLst>
          </a:prstGeom>
          <a:solidFill>
            <a:srgbClr val="1E2D27"/>
          </a:solidFill>
          <a:ln w="6350">
            <a:solidFill>
              <a:srgbClr val="2ECC8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005840"/>
            <a:ext cx="8321040" cy="347472"/>
          </a:xfrm>
          <a:prstGeom prst="roundRect">
            <a:avLst>
              <a:gd name="adj" fmla="val 26316"/>
            </a:avLst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0058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Command Evaluasi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1417320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EFF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run.py evaluate --model runs/detect/runs/rice_detection/weights/best.pt --split test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2103120"/>
            <a:ext cx="4023360" cy="749808"/>
          </a:xfrm>
          <a:prstGeom prst="roundRect">
            <a:avLst>
              <a:gd name="adj" fmla="val 9756"/>
            </a:avLst>
          </a:prstGeom>
          <a:solidFill>
            <a:srgbClr val="F4FAF7"/>
          </a:solidFill>
          <a:ln w="6350">
            <a:solidFill>
              <a:srgbClr val="D0E8D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11480" y="2103120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51560" y="2139696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248716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Akurasi prediksi positif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17720" y="2103120"/>
            <a:ext cx="4023360" cy="749808"/>
          </a:xfrm>
          <a:prstGeom prst="roundRect">
            <a:avLst>
              <a:gd name="adj" fmla="val 9756"/>
            </a:avLst>
          </a:prstGeom>
          <a:solidFill>
            <a:srgbClr val="F4FAF7"/>
          </a:solidFill>
          <a:ln w="6350">
            <a:solidFill>
              <a:srgbClr val="D0E8D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17720" y="2103120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57800" y="2139696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257800" y="248716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Kelengkapan deteksi objek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11480" y="3017520"/>
            <a:ext cx="4023360" cy="749808"/>
          </a:xfrm>
          <a:prstGeom prst="roundRect">
            <a:avLst>
              <a:gd name="adj" fmla="val 9756"/>
            </a:avLst>
          </a:prstGeom>
          <a:solidFill>
            <a:srgbClr val="F4FAF7"/>
          </a:solidFill>
          <a:ln w="6350">
            <a:solidFill>
              <a:srgbClr val="D0E8D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11480" y="3017520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051560" y="3054096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mAP50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340156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Average Precision @ IoU 50%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617720" y="3017520"/>
            <a:ext cx="4023360" cy="749808"/>
          </a:xfrm>
          <a:prstGeom prst="roundRect">
            <a:avLst>
              <a:gd name="adj" fmla="val 9756"/>
            </a:avLst>
          </a:prstGeom>
          <a:solidFill>
            <a:srgbClr val="F4FAF7"/>
          </a:solidFill>
          <a:ln w="6350">
            <a:solidFill>
              <a:srgbClr val="D0E8D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617720" y="3017520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🏆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257800" y="3054096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mAP50-95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257800" y="340156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pada berbagai threshold IoU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11480" y="4069080"/>
            <a:ext cx="8321040" cy="777240"/>
          </a:xfrm>
          <a:prstGeom prst="roundRect">
            <a:avLst>
              <a:gd name="adj" fmla="val 9412"/>
            </a:avLst>
          </a:prstGeom>
          <a:solidFill>
            <a:srgbClr val="1E2D27"/>
          </a:solidFill>
          <a:ln w="6350">
            <a:solidFill>
              <a:srgbClr val="2ECC8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406908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Hasil training: 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2743200" y="4069080"/>
            <a:ext cx="5669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ECC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runs/detect/runs/rice_detection/results.csv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3B2E"/>
          </a:solidFill>
          <a:ln w="12700">
            <a:solidFill>
              <a:srgbClr val="0D3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3241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ECC8F"/>
          </a:solidFill>
          <a:ln w="12700">
            <a:solidFill>
              <a:srgbClr val="2ECC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3241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3B2E"/>
                </a:solidFill>
              </a:rPr>
              <a:t>11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109728"/>
            <a:ext cx="79552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 </a:t>
            </a:r>
            <a:r>
              <a:rPr lang="en-US" sz="2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untuk</a:t>
            </a: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Prediksi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863840" y="-274320"/>
            <a:ext cx="1463040" cy="1463040"/>
          </a:xfrm>
          <a:prstGeom prst="ellipse">
            <a:avLst/>
          </a:prstGeom>
          <a:solidFill>
            <a:srgbClr val="2ECC8F">
              <a:alpha val="20000"/>
            </a:srgbClr>
          </a:solidFill>
          <a:ln w="12700">
            <a:solidFill>
              <a:srgbClr val="2ECC8F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005840"/>
            <a:ext cx="4114800" cy="1828800"/>
          </a:xfrm>
          <a:prstGeom prst="roundRect">
            <a:avLst>
              <a:gd name="adj" fmla="val 5000"/>
            </a:avLst>
          </a:prstGeom>
          <a:solidFill>
            <a:srgbClr val="1E2D27"/>
          </a:solidFill>
          <a:ln w="6350">
            <a:solidFill>
              <a:srgbClr val="2ECC8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005840"/>
            <a:ext cx="4114800" cy="347472"/>
          </a:xfrm>
          <a:prstGeom prst="roundRect">
            <a:avLst>
              <a:gd name="adj" fmla="val 26316"/>
            </a:avLst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0058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File &amp; Command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144475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GUI: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0080" y="17373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CC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app_browser.py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21488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Command: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450592"/>
            <a:ext cx="3657600" cy="274320"/>
          </a:xfrm>
          <a:prstGeom prst="roundRect">
            <a:avLst>
              <a:gd name="adj" fmla="val 16667"/>
            </a:avLst>
          </a:prstGeom>
          <a:solidFill>
            <a:srgbClr val="0A1E17"/>
          </a:solidFill>
          <a:ln w="6350">
            <a:solidFill>
              <a:srgbClr val="2ECC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45059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D" dirty="0" err="1">
                <a:solidFill>
                  <a:srgbClr val="2ECC8F"/>
                </a:solidFill>
              </a:rPr>
              <a:t>streamlit</a:t>
            </a:r>
            <a:r>
              <a:rPr lang="en-ID" dirty="0">
                <a:solidFill>
                  <a:srgbClr val="2ECC8F"/>
                </a:solidFill>
              </a:rPr>
              <a:t> run app_browser.py</a:t>
            </a:r>
          </a:p>
        </p:txBody>
      </p:sp>
      <p:sp>
        <p:nvSpPr>
          <p:cNvPr id="15" name="Shape 13"/>
          <p:cNvSpPr/>
          <p:nvPr/>
        </p:nvSpPr>
        <p:spPr>
          <a:xfrm>
            <a:off x="4663440" y="1005840"/>
            <a:ext cx="4069080" cy="1828800"/>
          </a:xfrm>
          <a:prstGeom prst="roundRect">
            <a:avLst>
              <a:gd name="adj" fmla="val 2381"/>
            </a:avLst>
          </a:prstGeom>
          <a:solidFill>
            <a:srgbClr val="E8F5F0"/>
          </a:solidFill>
          <a:ln w="10160">
            <a:solidFill>
              <a:srgbClr val="2ECC8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005840"/>
            <a:ext cx="4069080" cy="347472"/>
          </a:xfrm>
          <a:prstGeom prst="roundRect">
            <a:avLst>
              <a:gd name="adj" fmla="val 16036"/>
            </a:avLst>
          </a:prstGeom>
          <a:solidFill>
            <a:srgbClr val="2ECC8F"/>
          </a:solidFill>
          <a:ln w="12700">
            <a:solidFill>
              <a:srgbClr val="2ECC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00584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3B2E"/>
                </a:solidFill>
              </a:rPr>
              <a:t>Fitur GUI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1405128"/>
            <a:ext cx="3749040" cy="2264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C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Pilih model .pt</a:t>
            </a:r>
            <a:endParaRPr lang="en-US" sz="1200" dirty="0">
              <a:solidFill>
                <a:srgbClr val="2ECC8F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4846320" y="1627632"/>
            <a:ext cx="3749040" cy="2264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C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🖼️  Pilih gambar</a:t>
            </a:r>
            <a:endParaRPr lang="en-US" sz="1200" dirty="0">
              <a:solidFill>
                <a:srgbClr val="2ECC8F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4846320" y="1859280"/>
            <a:ext cx="3749040" cy="2264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C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🎚️  Atur confidence threshold</a:t>
            </a:r>
            <a:endParaRPr lang="en-US" sz="1200" dirty="0">
              <a:solidFill>
                <a:srgbClr val="2ECC8F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4846320" y="2085703"/>
            <a:ext cx="3749040" cy="2264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C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Prediksi jenis beras</a:t>
            </a:r>
            <a:endParaRPr lang="en-US" sz="1200" dirty="0">
              <a:solidFill>
                <a:srgbClr val="2ECC8F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4846320" y="2315391"/>
            <a:ext cx="3749040" cy="2264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C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Tampilkan bounding box</a:t>
            </a:r>
            <a:endParaRPr lang="en-US" sz="1200" dirty="0">
              <a:solidFill>
                <a:srgbClr val="2ECC8F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4846320" y="2545080"/>
            <a:ext cx="3749040" cy="2264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C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Simpan </a:t>
            </a:r>
            <a:r>
              <a:rPr lang="en-US" sz="1200" dirty="0" err="1">
                <a:solidFill>
                  <a:srgbClr val="2EC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</a:t>
            </a:r>
            <a:r>
              <a:rPr lang="en-US" sz="1200" dirty="0">
                <a:solidFill>
                  <a:srgbClr val="2EC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(optional)</a:t>
            </a:r>
            <a:endParaRPr lang="en-US" sz="1200" dirty="0">
              <a:solidFill>
                <a:srgbClr val="2ECC8F"/>
              </a:solidFill>
            </a:endParaRPr>
          </a:p>
        </p:txBody>
      </p:sp>
      <p:sp>
        <p:nvSpPr>
          <p:cNvPr id="57" name="Shape 6">
            <a:extLst>
              <a:ext uri="{FF2B5EF4-FFF2-40B4-BE49-F238E27FC236}">
                <a16:creationId xmlns:a16="http://schemas.microsoft.com/office/drawing/2014/main" id="{5E2C883E-A67A-9F61-780F-60609E2196D2}"/>
              </a:ext>
            </a:extLst>
          </p:cNvPr>
          <p:cNvSpPr/>
          <p:nvPr/>
        </p:nvSpPr>
        <p:spPr>
          <a:xfrm>
            <a:off x="2654096" y="3057144"/>
            <a:ext cx="4114800" cy="1921256"/>
          </a:xfrm>
          <a:prstGeom prst="roundRect">
            <a:avLst>
              <a:gd name="adj" fmla="val 2778"/>
            </a:avLst>
          </a:prstGeom>
          <a:solidFill>
            <a:srgbClr val="1E2D27"/>
          </a:solidFill>
          <a:ln w="6350">
            <a:solidFill>
              <a:srgbClr val="2ECC8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9" name="Shape 7">
            <a:extLst>
              <a:ext uri="{FF2B5EF4-FFF2-40B4-BE49-F238E27FC236}">
                <a16:creationId xmlns:a16="http://schemas.microsoft.com/office/drawing/2014/main" id="{7CB32271-FF30-6AF0-6449-69D01C7CCAE8}"/>
              </a:ext>
            </a:extLst>
          </p:cNvPr>
          <p:cNvSpPr/>
          <p:nvPr/>
        </p:nvSpPr>
        <p:spPr>
          <a:xfrm>
            <a:off x="2654096" y="3057144"/>
            <a:ext cx="4114800" cy="347472"/>
          </a:xfrm>
          <a:prstGeom prst="roundRect">
            <a:avLst>
              <a:gd name="adj" fmla="val 17179"/>
            </a:avLst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</p:sp>
      <p:sp>
        <p:nvSpPr>
          <p:cNvPr id="61" name="Text 8">
            <a:extLst>
              <a:ext uri="{FF2B5EF4-FFF2-40B4-BE49-F238E27FC236}">
                <a16:creationId xmlns:a16="http://schemas.microsoft.com/office/drawing/2014/main" id="{9CFADEDF-D2A4-7F28-BE56-C813DB4E057B}"/>
              </a:ext>
            </a:extLst>
          </p:cNvPr>
          <p:cNvSpPr/>
          <p:nvPr/>
        </p:nvSpPr>
        <p:spPr>
          <a:xfrm>
            <a:off x="2791256" y="3057144"/>
            <a:ext cx="39090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Struktur Output</a:t>
            </a:r>
            <a:endParaRPr lang="en-US" sz="1100" dirty="0"/>
          </a:p>
        </p:txBody>
      </p:sp>
      <p:sp>
        <p:nvSpPr>
          <p:cNvPr id="63" name="Text 9">
            <a:extLst>
              <a:ext uri="{FF2B5EF4-FFF2-40B4-BE49-F238E27FC236}">
                <a16:creationId xmlns:a16="http://schemas.microsoft.com/office/drawing/2014/main" id="{123483A5-EDAB-DE28-5F63-4D149F3FA688}"/>
              </a:ext>
            </a:extLst>
          </p:cNvPr>
          <p:cNvSpPr/>
          <p:nvPr/>
        </p:nvSpPr>
        <p:spPr>
          <a:xfrm>
            <a:off x="2882696" y="3458718"/>
            <a:ext cx="3703320" cy="2706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EFF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hasil_prediksi/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EFF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dirty="0" err="1">
                <a:solidFill>
                  <a:srgbClr val="7EFF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Beras_Gundukan</a:t>
            </a:r>
            <a:r>
              <a:rPr lang="en-US" sz="1200" dirty="0">
                <a:solidFill>
                  <a:srgbClr val="7EFF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7EFF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dirty="0" err="1">
                <a:solidFill>
                  <a:srgbClr val="7EFF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Beras_Patahan</a:t>
            </a:r>
            <a:r>
              <a:rPr lang="en-US" sz="1200" dirty="0">
                <a:solidFill>
                  <a:srgbClr val="7EFF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7EFF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dirty="0" err="1">
                <a:solidFill>
                  <a:srgbClr val="7EFF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Beras_Utuh</a:t>
            </a:r>
            <a:r>
              <a:rPr lang="en-US" sz="1200" dirty="0">
                <a:solidFill>
                  <a:srgbClr val="7EFF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7EFF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IR42/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7EFFD3"/>
                </a:solidFill>
                <a:latin typeface="Courier New" pitchFamily="34" charset="0"/>
                <a:cs typeface="Courier New" pitchFamily="34" charset="-120"/>
              </a:rPr>
              <a:t>  IR64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EFF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Ketan/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EFF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Pandan/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4">
            <a:extLst>
              <a:ext uri="{FF2B5EF4-FFF2-40B4-BE49-F238E27FC236}">
                <a16:creationId xmlns:a16="http://schemas.microsoft.com/office/drawing/2014/main" id="{3306BF0E-D07D-1BCE-00A2-966AF0E4E4DF}"/>
              </a:ext>
            </a:extLst>
          </p:cNvPr>
          <p:cNvSpPr/>
          <p:nvPr/>
        </p:nvSpPr>
        <p:spPr>
          <a:xfrm>
            <a:off x="-202237" y="3530785"/>
            <a:ext cx="2658435" cy="2414598"/>
          </a:xfrm>
          <a:prstGeom prst="ellipse">
            <a:avLst/>
          </a:prstGeom>
          <a:solidFill>
            <a:srgbClr val="2ECC8F">
              <a:alpha val="20000"/>
            </a:srgbClr>
          </a:solidFill>
          <a:ln w="12700">
            <a:solidFill>
              <a:srgbClr val="2ECC8F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09728"/>
            <a:ext cx="79552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863840" y="-274320"/>
            <a:ext cx="1463040" cy="1463040"/>
          </a:xfrm>
          <a:prstGeom prst="ellipse">
            <a:avLst/>
          </a:prstGeom>
          <a:solidFill>
            <a:srgbClr val="2ECC8F">
              <a:alpha val="20000"/>
            </a:srgbClr>
          </a:solidFill>
          <a:ln w="12700">
            <a:solidFill>
              <a:srgbClr val="2ECC8F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2777" y="960120"/>
            <a:ext cx="7158446" cy="3223260"/>
          </a:xfrm>
          <a:prstGeom prst="roundRect">
            <a:avLst>
              <a:gd name="adj" fmla="val 8000"/>
            </a:avLst>
          </a:prstGeom>
          <a:solidFill>
            <a:srgbClr val="F4FAF7"/>
          </a:solidFill>
          <a:ln w="6350">
            <a:solidFill>
              <a:srgbClr val="D0E8D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3776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41448" y="1670563"/>
            <a:ext cx="6661104" cy="180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600" dirty="0">
                <a:solidFill>
                  <a:srgbClr val="1E2D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</a:t>
            </a:r>
            <a:endParaRPr lang="en-US" sz="6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</TotalTime>
  <Words>628</Words>
  <Application>Microsoft Office PowerPoint</Application>
  <PresentationFormat>On-screen Show (16:9)</PresentationFormat>
  <Paragraphs>190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 Deteksi Jenis Beras Menggunakan YOLO</dc:title>
  <dc:subject>PptxGenJS Presentation</dc:subject>
  <dc:creator>PptxGenJS</dc:creator>
  <cp:lastModifiedBy>Yadie FR</cp:lastModifiedBy>
  <cp:revision>7</cp:revision>
  <dcterms:created xsi:type="dcterms:W3CDTF">2026-06-17T11:10:45Z</dcterms:created>
  <dcterms:modified xsi:type="dcterms:W3CDTF">2026-06-19T14:50:14Z</dcterms:modified>
</cp:coreProperties>
</file>