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623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11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7467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3657600" cy="3657600"/>
          </a:xfrm>
          <a:prstGeom prst="ellipse">
            <a:avLst/>
          </a:prstGeom>
          <a:solidFill>
            <a:srgbClr val="1A6B4A">
              <a:alpha val="40000"/>
            </a:srgbClr>
          </a:solidFill>
          <a:ln w="12700">
            <a:solidFill>
              <a:srgbClr val="1A6B4A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457200"/>
            <a:ext cx="2286000" cy="2286000"/>
          </a:xfrm>
          <a:prstGeom prst="ellipse">
            <a:avLst/>
          </a:prstGeom>
          <a:solidFill>
            <a:srgbClr val="2ECC8F">
              <a:alpha val="30000"/>
            </a:srgbClr>
          </a:solidFill>
          <a:ln w="12700">
            <a:solidFill>
              <a:srgbClr val="2ECC8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31520" y="3474720"/>
            <a:ext cx="2286000" cy="2286000"/>
          </a:xfrm>
          <a:prstGeom prst="ellipse">
            <a:avLst/>
          </a:prstGeom>
          <a:solidFill>
            <a:srgbClr val="2ECC8F">
              <a:alpha val="25000"/>
            </a:srgbClr>
          </a:solidFill>
          <a:ln w="12700">
            <a:solidFill>
              <a:srgbClr val="2ECC8F">
                <a:alpha val="2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502920"/>
            <a:ext cx="2377440" cy="347472"/>
          </a:xfrm>
          <a:prstGeom prst="roundRect">
            <a:avLst>
              <a:gd name="adj" fmla="val 13158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029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D3B2E"/>
                </a:solidFill>
              </a:rPr>
              <a:t>FINAL PROJECT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Deteksi Jenis Beras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2ECC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Menggunakan YOLO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EC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Berbasis Python  •  </a:t>
            </a:r>
            <a:r>
              <a:rPr lang="en-US" sz="1600" dirty="0">
                <a:solidFill>
                  <a:srgbClr val="AAC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Kelas Beras dari Gambar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860169" y="3895344"/>
            <a:ext cx="1601869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 err="1">
                <a:solidFill>
                  <a:srgbClr val="8AB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Muhibudin</a:t>
            </a:r>
            <a:endParaRPr lang="en-US" sz="1500" i="1" dirty="0">
              <a:solidFill>
                <a:srgbClr val="8ABFA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8AB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Pitriyadi</a:t>
            </a:r>
            <a:endParaRPr lang="en-US" sz="1500" i="1" dirty="0">
              <a:solidFill>
                <a:srgbClr val="8ABFA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8AB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Ramalah</a:t>
            </a:r>
            <a:r>
              <a:rPr lang="en-US" sz="1500" i="1" dirty="0">
                <a:solidFill>
                  <a:srgbClr val="8AB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Salam</a:t>
            </a:r>
          </a:p>
        </p:txBody>
      </p:sp>
      <p:sp>
        <p:nvSpPr>
          <p:cNvPr id="10" name="Shape 8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2ECC8F">
              <a:alpha val="60000"/>
            </a:srgbClr>
          </a:solidFill>
          <a:ln w="12700">
            <a:solidFill>
              <a:srgbClr val="2ECC8F">
                <a:alpha val="60000"/>
              </a:srgbClr>
            </a:solidFill>
            <a:prstDash val="solid"/>
          </a:ln>
        </p:spPr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CA87C61E-413F-A8A7-D7AB-9B5720079D51}"/>
              </a:ext>
            </a:extLst>
          </p:cNvPr>
          <p:cNvSpPr/>
          <p:nvPr/>
        </p:nvSpPr>
        <p:spPr>
          <a:xfrm>
            <a:off x="7132320" y="3895344"/>
            <a:ext cx="1601869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8AB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23416255201016</a:t>
            </a:r>
          </a:p>
          <a:p>
            <a:r>
              <a:rPr lang="en-US" sz="1500" i="1" dirty="0">
                <a:solidFill>
                  <a:srgbClr val="8AB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23416255201236</a:t>
            </a:r>
          </a:p>
          <a:p>
            <a:r>
              <a:rPr lang="en-US" sz="1500" i="1" dirty="0">
                <a:solidFill>
                  <a:srgbClr val="8AB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23416255201059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371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37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3B2E"/>
                </a:solidFill>
              </a:rPr>
              <a:t>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9728"/>
            <a:ext cx="79552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Latar Belakang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63840" y="-274320"/>
            <a:ext cx="1463040" cy="1463040"/>
          </a:xfrm>
          <a:prstGeom prst="ellipse">
            <a:avLst/>
          </a:prstGeom>
          <a:solidFill>
            <a:srgbClr val="2ECC8F">
              <a:alpha val="20000"/>
            </a:srgbClr>
          </a:solidFill>
          <a:ln w="12700">
            <a:solidFill>
              <a:srgbClr val="2ECC8F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143000"/>
            <a:ext cx="8321040" cy="749808"/>
          </a:xfrm>
          <a:prstGeom prst="roundRect">
            <a:avLst>
              <a:gd name="adj" fmla="val 9756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14300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🌾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34440" y="1143000"/>
            <a:ext cx="7223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 beras memiliki bentuk, warna, dan tekstur yang mirip satu sama lain.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2057400"/>
            <a:ext cx="8321040" cy="749808"/>
          </a:xfrm>
          <a:prstGeom prst="roundRect">
            <a:avLst>
              <a:gd name="adj" fmla="val 9756"/>
            </a:avLst>
          </a:prstGeom>
          <a:solidFill>
            <a:srgbClr val="E8F5F0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205740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⚠️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34440" y="2057400"/>
            <a:ext cx="7223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 manual bisa tidak konsisten dan membutuhkan keahlian khusus.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2971800"/>
            <a:ext cx="8321040" cy="749808"/>
          </a:xfrm>
          <a:prstGeom prst="roundRect">
            <a:avLst>
              <a:gd name="adj" fmla="val 9756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297180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2971800"/>
            <a:ext cx="7223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dapat membantu mengenali jenis beras secara otomatis dan akurat.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11480" y="3886200"/>
            <a:ext cx="8321040" cy="749808"/>
          </a:xfrm>
          <a:prstGeom prst="roundRect">
            <a:avLst>
              <a:gd name="adj" fmla="val 9756"/>
            </a:avLst>
          </a:prstGeom>
          <a:solidFill>
            <a:srgbClr val="E8F5F0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8640" y="388620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234440" y="3886200"/>
            <a:ext cx="7223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 digunakan agar sistem dapat memberi label dan bounding box pada gambar.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371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37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3B2E"/>
                </a:solidFill>
              </a:rPr>
              <a:t>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9728"/>
            <a:ext cx="79552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 Project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63840" y="-274320"/>
            <a:ext cx="1463040" cy="1463040"/>
          </a:xfrm>
          <a:prstGeom prst="ellipse">
            <a:avLst/>
          </a:prstGeom>
          <a:solidFill>
            <a:srgbClr val="2ECC8F">
              <a:alpha val="20000"/>
            </a:srgbClr>
          </a:solidFill>
          <a:ln w="12700">
            <a:solidFill>
              <a:srgbClr val="2ECC8F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143000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F4FAF7"/>
          </a:solidFill>
          <a:ln w="1524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1208" y="1298448"/>
            <a:ext cx="512064" cy="512064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" y="12984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43000" y="11430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Menyiapkan dataset gambar beras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11480" y="2167128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F4FAF7"/>
          </a:solidFill>
          <a:ln w="1524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21208" y="2322576"/>
            <a:ext cx="512064" cy="512064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" y="23225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3000" y="2167128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Mengubah dataset ke format YOLO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11480" y="3191256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F4FAF7"/>
          </a:solidFill>
          <a:ln w="1524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21208" y="3346704"/>
            <a:ext cx="512064" cy="512064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" y="33467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" y="3191256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Melatih model deteksi objek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754880" y="1143000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F4FAF7"/>
          </a:solidFill>
          <a:ln w="1524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64608" y="1298448"/>
            <a:ext cx="512064" cy="512064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64608" y="12984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0" y="11430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Mengevaluasi hasil model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754880" y="2167128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F4FAF7"/>
          </a:solidFill>
          <a:ln w="1524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64608" y="2322576"/>
            <a:ext cx="512064" cy="512064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64608" y="23225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0" y="2167128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Membuat GUI untuk prediksi dan demo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371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37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3B2E"/>
                </a:solidFill>
              </a:rPr>
              <a:t>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9728"/>
            <a:ext cx="79552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Struktur Folder Project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63840" y="-274320"/>
            <a:ext cx="1463040" cy="1463040"/>
          </a:xfrm>
          <a:prstGeom prst="ellipse">
            <a:avLst/>
          </a:prstGeom>
          <a:solidFill>
            <a:srgbClr val="2ECC8F">
              <a:alpha val="20000"/>
            </a:srgbClr>
          </a:solidFill>
          <a:ln w="12700">
            <a:solidFill>
              <a:srgbClr val="2ECC8F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051560"/>
            <a:ext cx="3657600" cy="3520440"/>
          </a:xfrm>
          <a:prstGeom prst="roundRect">
            <a:avLst>
              <a:gd name="adj" fmla="val 2597"/>
            </a:avLst>
          </a:prstGeom>
          <a:solidFill>
            <a:srgbClr val="1E2D27"/>
          </a:solidFill>
          <a:ln w="635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051560"/>
            <a:ext cx="3657600" cy="347472"/>
          </a:xfrm>
          <a:prstGeom prst="roundRect">
            <a:avLst>
              <a:gd name="adj" fmla="val 26316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05156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📁 Struktur Direktori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1463040"/>
            <a:ext cx="3291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UAS_ML/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dataset/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yolo_rice_dataset/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runs/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hasil_prediksi/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run.py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gui_predict.py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requirements.txt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laporan_akhir.md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89120" y="1051560"/>
            <a:ext cx="4343400" cy="749808"/>
          </a:xfrm>
          <a:prstGeom prst="roundRect">
            <a:avLst>
              <a:gd name="adj" fmla="val 9756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88136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dataset/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14173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asli per kelas beras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89120" y="1938528"/>
            <a:ext cx="4343400" cy="749808"/>
          </a:xfrm>
          <a:prstGeom prst="roundRect">
            <a:avLst>
              <a:gd name="adj" fmla="val 9756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0" y="1975104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yolo_rice_dataset/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0" y="230428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hasil konversi YOLO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89120" y="2825496"/>
            <a:ext cx="4343400" cy="749808"/>
          </a:xfrm>
          <a:prstGeom prst="roundRect">
            <a:avLst>
              <a:gd name="adj" fmla="val 9756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72000" y="2862072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runs/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0" y="3191256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training dan model tersimpan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89120" y="3712464"/>
            <a:ext cx="4343400" cy="749808"/>
          </a:xfrm>
          <a:prstGeom prst="roundRect">
            <a:avLst>
              <a:gd name="adj" fmla="val 9756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0" y="37490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hasil_prediksi/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0" y="4078224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gambar prediksi dari GUI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371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37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3B2E"/>
                </a:solidFill>
              </a:rPr>
              <a:t>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9728"/>
            <a:ext cx="79552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63840" y="-274320"/>
            <a:ext cx="1463040" cy="1463040"/>
          </a:xfrm>
          <a:prstGeom prst="ellipse">
            <a:avLst/>
          </a:prstGeom>
          <a:solidFill>
            <a:srgbClr val="2ECC8F">
              <a:alpha val="20000"/>
            </a:srgbClr>
          </a:solidFill>
          <a:ln w="12700">
            <a:solidFill>
              <a:srgbClr val="2ECC8F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078992"/>
            <a:ext cx="8321040" cy="640080"/>
          </a:xfrm>
          <a:prstGeom prst="roundRect">
            <a:avLst>
              <a:gd name="adj" fmla="val 14286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078992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Total Dataset: </a:t>
            </a:r>
            <a:r>
              <a:rPr lang="en-US" sz="2400" b="1" dirty="0">
                <a:solidFill>
                  <a:srgbClr val="F0A500"/>
                </a:solidFill>
              </a:rPr>
              <a:t>718</a:t>
            </a:r>
            <a:r>
              <a:rPr lang="en-US" sz="1600" dirty="0">
                <a:solidFill>
                  <a:srgbClr val="E8F5F0"/>
                </a:solidFill>
              </a:rPr>
              <a:t> gambar  •  7 Kelas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874520"/>
            <a:ext cx="1920240" cy="1280160"/>
          </a:xfrm>
          <a:prstGeom prst="roundRect">
            <a:avLst>
              <a:gd name="adj" fmla="val 7143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761488"/>
            <a:ext cx="1645920" cy="146304"/>
          </a:xfrm>
          <a:prstGeom prst="roundRect">
            <a:avLst>
              <a:gd name="adj" fmla="val 25000"/>
            </a:avLst>
          </a:prstGeom>
          <a:solidFill>
            <a:srgbClr val="D0E8DC"/>
          </a:solidFill>
          <a:ln w="12700">
            <a:solidFill>
              <a:srgbClr val="D0E8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761488"/>
            <a:ext cx="1440180" cy="146304"/>
          </a:xfrm>
          <a:prstGeom prst="roundRect">
            <a:avLst>
              <a:gd name="adj" fmla="val 25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92938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Beras_Gundukan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23317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2514600" y="1874520"/>
            <a:ext cx="1920240" cy="1280160"/>
          </a:xfrm>
          <a:prstGeom prst="roundRect">
            <a:avLst>
              <a:gd name="adj" fmla="val 7143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51760" y="2761488"/>
            <a:ext cx="1645920" cy="146304"/>
          </a:xfrm>
          <a:prstGeom prst="roundRect">
            <a:avLst>
              <a:gd name="adj" fmla="val 25000"/>
            </a:avLst>
          </a:prstGeom>
          <a:solidFill>
            <a:srgbClr val="D0E8DC"/>
          </a:solidFill>
          <a:ln w="12700">
            <a:solidFill>
              <a:srgbClr val="D0E8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51760" y="2761488"/>
            <a:ext cx="1399032" cy="146304"/>
          </a:xfrm>
          <a:prstGeom prst="roundRect">
            <a:avLst>
              <a:gd name="adj" fmla="val 25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06040" y="192938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Beras_Patahan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06040" y="23317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617720" y="1874520"/>
            <a:ext cx="1920240" cy="1280160"/>
          </a:xfrm>
          <a:prstGeom prst="roundRect">
            <a:avLst>
              <a:gd name="adj" fmla="val 7143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761488"/>
            <a:ext cx="1645920" cy="146304"/>
          </a:xfrm>
          <a:prstGeom prst="roundRect">
            <a:avLst>
              <a:gd name="adj" fmla="val 25000"/>
            </a:avLst>
          </a:prstGeom>
          <a:solidFill>
            <a:srgbClr val="D0E8DC"/>
          </a:solidFill>
          <a:ln w="12700">
            <a:solidFill>
              <a:srgbClr val="D0E8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4880" y="2761488"/>
            <a:ext cx="1549908" cy="146304"/>
          </a:xfrm>
          <a:prstGeom prst="roundRect">
            <a:avLst>
              <a:gd name="adj" fmla="val 25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192938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Beras_Utuh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09160" y="23317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720840" y="1874520"/>
            <a:ext cx="1920240" cy="1280160"/>
          </a:xfrm>
          <a:prstGeom prst="roundRect">
            <a:avLst>
              <a:gd name="adj" fmla="val 7143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858000" y="2761488"/>
            <a:ext cx="1645920" cy="146304"/>
          </a:xfrm>
          <a:prstGeom prst="roundRect">
            <a:avLst>
              <a:gd name="adj" fmla="val 25000"/>
            </a:avLst>
          </a:prstGeom>
          <a:solidFill>
            <a:srgbClr val="D0E8DC"/>
          </a:solidFill>
          <a:ln w="12700">
            <a:solidFill>
              <a:srgbClr val="D0E8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0" y="2761488"/>
            <a:ext cx="1577340" cy="146304"/>
          </a:xfrm>
          <a:prstGeom prst="roundRect">
            <a:avLst>
              <a:gd name="adj" fmla="val 25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12280" y="192938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IR42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812280" y="23317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411480" y="3337560"/>
            <a:ext cx="1920240" cy="1280160"/>
          </a:xfrm>
          <a:prstGeom prst="roundRect">
            <a:avLst>
              <a:gd name="adj" fmla="val 7143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4224528"/>
            <a:ext cx="1645920" cy="146304"/>
          </a:xfrm>
          <a:prstGeom prst="roundRect">
            <a:avLst>
              <a:gd name="adj" fmla="val 25000"/>
            </a:avLst>
          </a:prstGeom>
          <a:solidFill>
            <a:srgbClr val="D0E8DC"/>
          </a:solidFill>
          <a:ln w="12700">
            <a:solidFill>
              <a:srgbClr val="D0E8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4224528"/>
            <a:ext cx="1152144" cy="146304"/>
          </a:xfrm>
          <a:prstGeom prst="roundRect">
            <a:avLst>
              <a:gd name="adj" fmla="val 25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39242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IR64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02920" y="379476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514600" y="3337560"/>
            <a:ext cx="1920240" cy="1280160"/>
          </a:xfrm>
          <a:prstGeom prst="roundRect">
            <a:avLst>
              <a:gd name="adj" fmla="val 7143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651760" y="4224528"/>
            <a:ext cx="1645920" cy="146304"/>
          </a:xfrm>
          <a:prstGeom prst="roundRect">
            <a:avLst>
              <a:gd name="adj" fmla="val 25000"/>
            </a:avLst>
          </a:prstGeom>
          <a:solidFill>
            <a:srgbClr val="D0E8DC"/>
          </a:solidFill>
          <a:ln w="12700">
            <a:solidFill>
              <a:srgbClr val="D0E8D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51760" y="4224528"/>
            <a:ext cx="1399032" cy="146304"/>
          </a:xfrm>
          <a:prstGeom prst="roundRect">
            <a:avLst>
              <a:gd name="adj" fmla="val 25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339242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Ketan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2606040" y="379476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4617720" y="3337560"/>
            <a:ext cx="1920240" cy="1280160"/>
          </a:xfrm>
          <a:prstGeom prst="roundRect">
            <a:avLst>
              <a:gd name="adj" fmla="val 7143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54880" y="4224528"/>
            <a:ext cx="1645920" cy="146304"/>
          </a:xfrm>
          <a:prstGeom prst="roundRect">
            <a:avLst>
              <a:gd name="adj" fmla="val 25000"/>
            </a:avLst>
          </a:prstGeom>
          <a:solidFill>
            <a:srgbClr val="D0E8DC"/>
          </a:solidFill>
          <a:ln w="12700">
            <a:solidFill>
              <a:srgbClr val="D0E8D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54880" y="4224528"/>
            <a:ext cx="1330452" cy="146304"/>
          </a:xfrm>
          <a:prstGeom prst="roundRect">
            <a:avLst>
              <a:gd name="adj" fmla="val 25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09160" y="339242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Pandan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709160" y="379476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371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37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3B2E"/>
                </a:solidFill>
              </a:rPr>
              <a:t>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9728"/>
            <a:ext cx="79552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 Dataset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63840" y="-274320"/>
            <a:ext cx="1463040" cy="1463040"/>
          </a:xfrm>
          <a:prstGeom prst="ellipse">
            <a:avLst/>
          </a:prstGeom>
          <a:solidFill>
            <a:srgbClr val="2ECC8F">
              <a:alpha val="20000"/>
            </a:srgbClr>
          </a:solidFill>
          <a:ln w="12700">
            <a:solidFill>
              <a:srgbClr val="2ECC8F">
                <a:alpha val="2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Penamaan file gambar dirapikan sesuai kelas masing-masing untuk konsistensi dataset.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1554480"/>
            <a:ext cx="8321040" cy="1463040"/>
          </a:xfrm>
          <a:prstGeom prst="roundRect">
            <a:avLst>
              <a:gd name="adj" fmla="val 6250"/>
            </a:avLst>
          </a:prstGeom>
          <a:solidFill>
            <a:srgbClr val="1E2D27"/>
          </a:solidFill>
          <a:ln w="635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" y="1554480"/>
            <a:ext cx="8321040" cy="347472"/>
          </a:xfrm>
          <a:prstGeom prst="roundRect">
            <a:avLst>
              <a:gd name="adj" fmla="val 26316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55448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Contoh Penamaan File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96596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ECC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IR42_000001.jpg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Pandan_000001.jpg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8FF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Beras_Patahan_000001.jpg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1480" y="3154680"/>
            <a:ext cx="8321040" cy="1463040"/>
          </a:xfrm>
          <a:prstGeom prst="roundRect">
            <a:avLst>
              <a:gd name="adj" fmla="val 6250"/>
            </a:avLst>
          </a:prstGeom>
          <a:solidFill>
            <a:srgbClr val="E8F5F0"/>
          </a:solidFill>
          <a:ln w="1016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3246120"/>
            <a:ext cx="640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📄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325880" y="3291840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Manifest Perubahan Nama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25880" y="3712464"/>
            <a:ext cx="7132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rename_manifest.csv</a:t>
            </a:r>
            <a:endParaRPr lang="en-US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1325880" y="4114800"/>
            <a:ext cx="7132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perubahan nama file direkam dalam file CSV ini untuk traceability.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371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37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3B2E"/>
                </a:solidFill>
              </a:rPr>
              <a:t>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9728"/>
            <a:ext cx="79552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Konversi ke Format YOLO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63840" y="-274320"/>
            <a:ext cx="1463040" cy="1463040"/>
          </a:xfrm>
          <a:prstGeom prst="ellipse">
            <a:avLst/>
          </a:prstGeom>
          <a:solidFill>
            <a:srgbClr val="2ECC8F">
              <a:alpha val="20000"/>
            </a:srgbClr>
          </a:solidFill>
          <a:ln w="12700">
            <a:solidFill>
              <a:srgbClr val="2ECC8F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005840"/>
            <a:ext cx="4114800" cy="3611880"/>
          </a:xfrm>
          <a:prstGeom prst="roundRect">
            <a:avLst>
              <a:gd name="adj" fmla="val 2532"/>
            </a:avLst>
          </a:prstGeom>
          <a:solidFill>
            <a:srgbClr val="1E2D27"/>
          </a:solidFill>
          <a:ln w="635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005840"/>
            <a:ext cx="4114800" cy="347472"/>
          </a:xfrm>
          <a:prstGeom prst="roundRect">
            <a:avLst>
              <a:gd name="adj" fmla="val 26316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005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Script &amp; Command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4447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utama: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176479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CC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Command: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578608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0A1E17"/>
          </a:solidFill>
          <a:ln w="6350">
            <a:solidFill>
              <a:srgbClr val="2ECC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5786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prepare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1005840"/>
            <a:ext cx="4069080" cy="3611880"/>
          </a:xfrm>
          <a:prstGeom prst="roundRect">
            <a:avLst>
              <a:gd name="adj" fmla="val 2532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1005840"/>
            <a:ext cx="4069080" cy="347472"/>
          </a:xfrm>
          <a:prstGeom prst="roundRect">
            <a:avLst>
              <a:gd name="adj" fmla="val 26316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00584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2E"/>
                </a:solidFill>
              </a:rPr>
              <a:t>Output Struktur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1444752"/>
            <a:ext cx="37490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yolo_rice_dataset/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images/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train/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test/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labels/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train/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test/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data.yaml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371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37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3B2E"/>
                </a:solidFill>
              </a:rPr>
              <a:t>8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9728"/>
            <a:ext cx="79552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Pembagian Dataset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63840" y="-274320"/>
            <a:ext cx="1463040" cy="1463040"/>
          </a:xfrm>
          <a:prstGeom prst="ellipse">
            <a:avLst/>
          </a:prstGeom>
          <a:solidFill>
            <a:srgbClr val="2ECC8F">
              <a:alpha val="20000"/>
            </a:srgbClr>
          </a:solidFill>
          <a:ln w="12700">
            <a:solidFill>
              <a:srgbClr val="2ECC8F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0515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051560"/>
            <a:ext cx="2606040" cy="658368"/>
          </a:xfrm>
          <a:prstGeom prst="roundRect">
            <a:avLst>
              <a:gd name="adj" fmla="val 13889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5156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B2E"/>
                </a:solidFill>
              </a:rPr>
              <a:t>Train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1755648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499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411480" y="256032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28346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69.5%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6120" y="10515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051560"/>
            <a:ext cx="2606040" cy="658368"/>
          </a:xfrm>
          <a:prstGeom prst="roundRect">
            <a:avLst>
              <a:gd name="adj" fmla="val 13889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05156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B2E"/>
                </a:solidFill>
              </a:rPr>
              <a:t>Validation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246120" y="1755648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2EC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3246120" y="256032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46120" y="28346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19.6%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080760" y="10515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0760" y="1051560"/>
            <a:ext cx="2606040" cy="658368"/>
          </a:xfrm>
          <a:prstGeom prst="roundRect">
            <a:avLst>
              <a:gd name="adj" fmla="val 13889"/>
            </a:avLst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0760" y="105156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B2E"/>
                </a:solidFill>
              </a:rPr>
              <a:t>Test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80760" y="1755648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6080760" y="256032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080760" y="28346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10.9%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11480" y="34290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1E2D27"/>
          </a:solidFill>
          <a:ln w="6350">
            <a:solidFill>
              <a:srgbClr val="2ECC8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520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C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data.yaml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38404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BF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yolo_rice_dataset/data.yaml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42062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Konfigurasi path dan kelas untuk training YOLO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17720" y="3429000"/>
            <a:ext cx="4114800" cy="1463040"/>
          </a:xfrm>
          <a:prstGeom prst="roundRect">
            <a:avLst>
              <a:gd name="adj" fmla="val 6250"/>
            </a:avLst>
          </a:prstGeom>
          <a:solidFill>
            <a:srgbClr val="1E2D27"/>
          </a:solidFill>
          <a:ln w="6350">
            <a:solidFill>
              <a:srgbClr val="2ECC8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3520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C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dataset_summary.csv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46320" y="38404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BF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yolo_rice_dataset/dataset_summary.csv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46320" y="42062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ringkasan statistik distribusi dataset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371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37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3B2E"/>
                </a:solidFill>
              </a:rPr>
              <a:t>9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9728"/>
            <a:ext cx="79552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Model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63840" y="-274320"/>
            <a:ext cx="1463040" cy="1463040"/>
          </a:xfrm>
          <a:prstGeom prst="ellipse">
            <a:avLst/>
          </a:prstGeom>
          <a:solidFill>
            <a:srgbClr val="2ECC8F">
              <a:alpha val="20000"/>
            </a:srgbClr>
          </a:solidFill>
          <a:ln w="12700">
            <a:solidFill>
              <a:srgbClr val="2ECC8F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09728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3385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426464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YOLOv8n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11480" y="201168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04825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Weight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2340864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yolov8n.pt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1480" y="292608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296265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255264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663440" y="1097280"/>
            <a:ext cx="4069080" cy="1005840"/>
          </a:xfrm>
          <a:prstGeom prst="roundRect">
            <a:avLst>
              <a:gd name="adj" fmla="val 9091"/>
            </a:avLst>
          </a:prstGeom>
          <a:solidFill>
            <a:srgbClr val="1E2D27"/>
          </a:solidFill>
          <a:ln w="635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097280"/>
            <a:ext cx="4069080" cy="347472"/>
          </a:xfrm>
          <a:prstGeom prst="roundRect">
            <a:avLst>
              <a:gd name="adj" fmla="val 26316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109728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Command Training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15087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train --epochs 50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63440" y="2286000"/>
            <a:ext cx="4069080" cy="1554480"/>
          </a:xfrm>
          <a:prstGeom prst="roundRect">
            <a:avLst>
              <a:gd name="adj" fmla="val 5882"/>
            </a:avLst>
          </a:prstGeom>
          <a:solidFill>
            <a:srgbClr val="1E2D27"/>
          </a:solidFill>
          <a:ln w="635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2286000"/>
            <a:ext cx="4069080" cy="347472"/>
          </a:xfrm>
          <a:prstGeom prst="roundRect">
            <a:avLst>
              <a:gd name="adj" fmla="val 26316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28600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Model Tersimpan di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269748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runs/detect/runs/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rice_detection/weights/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best.pt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" y="4023360"/>
            <a:ext cx="8321040" cy="822960"/>
          </a:xfrm>
          <a:prstGeom prst="roundRect">
            <a:avLst>
              <a:gd name="adj" fmla="val 8889"/>
            </a:avLst>
          </a:prstGeom>
          <a:solidFill>
            <a:srgbClr val="E8F5F0"/>
          </a:solidFill>
          <a:ln w="10160">
            <a:solidFill>
              <a:srgbClr val="2ECC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02336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YOLOv8n adalah varian nano (paling ringan) dari YOLOv8, ideal untuk training cepat dan efisien.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371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37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3B2E"/>
                </a:solidFill>
              </a:rPr>
              <a:t>10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9728"/>
            <a:ext cx="79552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Evaluasi Model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63840" y="-274320"/>
            <a:ext cx="1463040" cy="1463040"/>
          </a:xfrm>
          <a:prstGeom prst="ellipse">
            <a:avLst/>
          </a:prstGeom>
          <a:solidFill>
            <a:srgbClr val="2ECC8F">
              <a:alpha val="20000"/>
            </a:srgbClr>
          </a:solidFill>
          <a:ln w="12700">
            <a:solidFill>
              <a:srgbClr val="2ECC8F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005840"/>
            <a:ext cx="8321040" cy="960120"/>
          </a:xfrm>
          <a:prstGeom prst="roundRect">
            <a:avLst>
              <a:gd name="adj" fmla="val 9524"/>
            </a:avLst>
          </a:prstGeom>
          <a:solidFill>
            <a:srgbClr val="1E2D27"/>
          </a:solidFill>
          <a:ln w="635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005840"/>
            <a:ext cx="8321040" cy="347472"/>
          </a:xfrm>
          <a:prstGeom prst="roundRect">
            <a:avLst>
              <a:gd name="adj" fmla="val 26316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0058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Command Evaluasi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417320"/>
            <a:ext cx="7955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evaluate --model runs/detect/runs/rice_detection/weights/best.pt --split test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210312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11480" y="2103120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51560" y="2139696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51560" y="248716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prediksi positif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17720" y="210312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17720" y="2103120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57800" y="2139696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57800" y="248716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Kelengkapan deteksi objek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01752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11480" y="3017520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051560" y="3054096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51560" y="340156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Average Precision @ IoU 50%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617720" y="301752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17720" y="3017520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257800" y="3054096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mAP50-95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57800" y="340156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pada berbagai threshold IoU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11480" y="4069080"/>
            <a:ext cx="8321040" cy="777240"/>
          </a:xfrm>
          <a:prstGeom prst="roundRect">
            <a:avLst>
              <a:gd name="adj" fmla="val 9412"/>
            </a:avLst>
          </a:prstGeom>
          <a:solidFill>
            <a:srgbClr val="1E2D27"/>
          </a:solidFill>
          <a:ln w="6350">
            <a:solidFill>
              <a:srgbClr val="2ECC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406908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 Hasil training: 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2743200" y="4069080"/>
            <a:ext cx="5669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CC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runs/detect/runs/rice_detection/results.csv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371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37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3B2E"/>
                </a:solidFill>
              </a:rPr>
              <a:t>11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9728"/>
            <a:ext cx="79552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Penjelasan run.py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63840" y="-274320"/>
            <a:ext cx="1463040" cy="1463040"/>
          </a:xfrm>
          <a:prstGeom prst="ellipse">
            <a:avLst/>
          </a:prstGeom>
          <a:solidFill>
            <a:srgbClr val="2ECC8F">
              <a:alpha val="20000"/>
            </a:srgbClr>
          </a:solidFill>
          <a:ln w="12700">
            <a:solidFill>
              <a:srgbClr val="2ECC8F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051560"/>
            <a:ext cx="8321040" cy="658368"/>
          </a:xfrm>
          <a:prstGeom prst="roundRect">
            <a:avLst>
              <a:gd name="adj" fmla="val 11111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16128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16128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prepare_dataset()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749040" y="105156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Membuat dan mengonversi dataset ke format YOLO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1837944"/>
            <a:ext cx="8321040" cy="658368"/>
          </a:xfrm>
          <a:prstGeom prst="roundRect">
            <a:avLst>
              <a:gd name="adj" fmla="val 11111"/>
            </a:avLst>
          </a:prstGeom>
          <a:solidFill>
            <a:srgbClr val="E8F5F0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94767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947672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train_model()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749040" y="1837944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Melatih model YOLOv8 dengan dataset yang telah disiapkan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2624328"/>
            <a:ext cx="8321040" cy="658368"/>
          </a:xfrm>
          <a:prstGeom prst="roundRect">
            <a:avLst>
              <a:gd name="adj" fmla="val 11111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273405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734056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evaluate_model()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749040" y="262432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Mengukur performa model dengan metrik Precision, Recall, mAP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11480" y="3410712"/>
            <a:ext cx="8321040" cy="658368"/>
          </a:xfrm>
          <a:prstGeom prst="roundRect">
            <a:avLst>
              <a:gd name="adj" fmla="val 11111"/>
            </a:avLst>
          </a:prstGeom>
          <a:solidFill>
            <a:srgbClr val="E8F5F0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5204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52044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predict()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49040" y="3410712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Prediksi gambar atau folder via command line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11480" y="4197096"/>
            <a:ext cx="8321040" cy="658368"/>
          </a:xfrm>
          <a:prstGeom prst="roundRect">
            <a:avLst>
              <a:gd name="adj" fmla="val 11111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430682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306824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write_report()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749040" y="419709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Membuat laporan akhir hasil training dan evaluasi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371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37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3B2E"/>
                </a:solidFill>
              </a:rPr>
              <a:t>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9728"/>
            <a:ext cx="79552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 Prediksi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63840" y="-274320"/>
            <a:ext cx="1463040" cy="1463040"/>
          </a:xfrm>
          <a:prstGeom prst="ellipse">
            <a:avLst/>
          </a:prstGeom>
          <a:solidFill>
            <a:srgbClr val="2ECC8F">
              <a:alpha val="20000"/>
            </a:srgbClr>
          </a:solidFill>
          <a:ln w="12700">
            <a:solidFill>
              <a:srgbClr val="2ECC8F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00584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1E2D27"/>
          </a:solidFill>
          <a:ln w="635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005840"/>
            <a:ext cx="4114800" cy="347472"/>
          </a:xfrm>
          <a:prstGeom prst="roundRect">
            <a:avLst>
              <a:gd name="adj" fmla="val 26316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005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File &amp; Command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44475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GUI: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CC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gui_predict.py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1488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Command: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450592"/>
            <a:ext cx="3657600" cy="274320"/>
          </a:xfrm>
          <a:prstGeom prst="roundRect">
            <a:avLst>
              <a:gd name="adj" fmla="val 16667"/>
            </a:avLst>
          </a:prstGeom>
          <a:solidFill>
            <a:srgbClr val="0A1E17"/>
          </a:solidFill>
          <a:ln w="6350">
            <a:solidFill>
              <a:srgbClr val="2ECC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4505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gui_predict.py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1005840"/>
            <a:ext cx="4069080" cy="3840480"/>
          </a:xfrm>
          <a:prstGeom prst="roundRect">
            <a:avLst>
              <a:gd name="adj" fmla="val 2381"/>
            </a:avLst>
          </a:prstGeom>
          <a:solidFill>
            <a:srgbClr val="E8F5F0"/>
          </a:solidFill>
          <a:ln w="1016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1005840"/>
            <a:ext cx="4069080" cy="347472"/>
          </a:xfrm>
          <a:prstGeom prst="roundRect">
            <a:avLst>
              <a:gd name="adj" fmla="val 26316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0058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3B2E"/>
                </a:solidFill>
              </a:rPr>
              <a:t>Fitur GUI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46320" y="14813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📂  Pilih model .pt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202996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🖼️  Pilih gambar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46320" y="257860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🎚️  Atur confidence threshold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46320" y="312724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Prediksi jenis beras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367588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Tampilkan bounding box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46320" y="42245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 Simpan hasil otomatis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371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37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3B2E"/>
                </a:solidFill>
              </a:rPr>
              <a:t>13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9728"/>
            <a:ext cx="79552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Perbaikan Bounding Box di GUI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63840" y="-274320"/>
            <a:ext cx="1463040" cy="1463040"/>
          </a:xfrm>
          <a:prstGeom prst="ellipse">
            <a:avLst/>
          </a:prstGeom>
          <a:solidFill>
            <a:srgbClr val="2ECC8F">
              <a:alpha val="20000"/>
            </a:srgbClr>
          </a:solidFill>
          <a:ln w="12700">
            <a:solidFill>
              <a:srgbClr val="2ECC8F">
                <a:alpha val="2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Karena label awal bersifat full-frame, bounding box dari model bisa terlalu besar dan tidak presisi.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11480" y="160020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FF0F0"/>
          </a:solidFill>
          <a:ln w="10160">
            <a:solidFill>
              <a:srgbClr val="FFAA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" y="1600200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6002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❌  Masalah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176272"/>
            <a:ext cx="35661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dari model terlalu besar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akurat menunjuk area beras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awal full-frame dari preprocessing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09160" y="160020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E8F5F0"/>
          </a:solidFill>
          <a:ln w="1016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600200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6002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✅  Solusi Post-processing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2176272"/>
            <a:ext cx="37033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area beras dari warna/threshold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Mengabaikan noise kecil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Membuat bounding box yang lebih rapat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Opsi GUI: Box menyesuaikan beras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371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37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3B2E"/>
                </a:solidFill>
              </a:rPr>
              <a:t>14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9728"/>
            <a:ext cx="79552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Prediksi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63840" y="-274320"/>
            <a:ext cx="1463040" cy="1463040"/>
          </a:xfrm>
          <a:prstGeom prst="ellipse">
            <a:avLst/>
          </a:prstGeom>
          <a:solidFill>
            <a:srgbClr val="2ECC8F">
              <a:alpha val="20000"/>
            </a:srgbClr>
          </a:solidFill>
          <a:ln w="12700">
            <a:solidFill>
              <a:srgbClr val="2ECC8F">
                <a:alpha val="2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prediksi otomatis disimpan berdasarkan kelas yang terdeteksi: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11480" y="1481328"/>
            <a:ext cx="3657600" cy="3291840"/>
          </a:xfrm>
          <a:prstGeom prst="roundRect">
            <a:avLst>
              <a:gd name="adj" fmla="val 2778"/>
            </a:avLst>
          </a:prstGeom>
          <a:solidFill>
            <a:srgbClr val="1E2D27"/>
          </a:solidFill>
          <a:ln w="6350">
            <a:solidFill>
              <a:srgbClr val="2ECC8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" y="1481328"/>
            <a:ext cx="3657600" cy="347472"/>
          </a:xfrm>
          <a:prstGeom prst="roundRect">
            <a:avLst>
              <a:gd name="adj" fmla="val 26316"/>
            </a:avLst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48132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Struktur Output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01952"/>
            <a:ext cx="3291840" cy="2706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hasil_prediksi/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IR42/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Pandan/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Ketan/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Beras_Patahan/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7EFF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Tidak_Terdeteksi/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80560" y="1481328"/>
            <a:ext cx="4251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per Kelas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80560" y="1920240"/>
            <a:ext cx="4251960" cy="475488"/>
          </a:xfrm>
          <a:prstGeom prst="roundRect">
            <a:avLst>
              <a:gd name="adj" fmla="val 13462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IR42/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480560" y="2523744"/>
            <a:ext cx="4251960" cy="475488"/>
          </a:xfrm>
          <a:prstGeom prst="roundRect">
            <a:avLst>
              <a:gd name="adj" fmla="val 13462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2523744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Pandan/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480560" y="3127248"/>
            <a:ext cx="4251960" cy="475488"/>
          </a:xfrm>
          <a:prstGeom prst="roundRect">
            <a:avLst>
              <a:gd name="adj" fmla="val 13462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3127248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Ketan/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80560" y="3730752"/>
            <a:ext cx="4251960" cy="475488"/>
          </a:xfrm>
          <a:prstGeom prst="roundRect">
            <a:avLst>
              <a:gd name="adj" fmla="val 13462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373075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Beras_Patahan/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480560" y="4334256"/>
            <a:ext cx="4251960" cy="475488"/>
          </a:xfrm>
          <a:prstGeom prst="roundRect">
            <a:avLst>
              <a:gd name="adj" fmla="val 13462"/>
            </a:avLst>
          </a:prstGeom>
          <a:solidFill>
            <a:srgbClr val="FFF5E6"/>
          </a:solidFill>
          <a:ln w="6350">
            <a:solidFill>
              <a:srgbClr val="F0A5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4334256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A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⚠️ Tidak_Terdeteksi/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371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CC8F"/>
          </a:solidFill>
          <a:ln w="12700">
            <a:solidFill>
              <a:srgbClr val="2ECC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37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3B2E"/>
                </a:solidFill>
              </a:rPr>
              <a:t>15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9728"/>
            <a:ext cx="79552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Alur Demo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63840" y="-274320"/>
            <a:ext cx="1463040" cy="1463040"/>
          </a:xfrm>
          <a:prstGeom prst="ellipse">
            <a:avLst/>
          </a:prstGeom>
          <a:solidFill>
            <a:srgbClr val="2ECC8F">
              <a:alpha val="20000"/>
            </a:srgbClr>
          </a:solidFill>
          <a:ln w="12700">
            <a:solidFill>
              <a:srgbClr val="2ECC8F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078992"/>
            <a:ext cx="4069080" cy="1143000"/>
          </a:xfrm>
          <a:prstGeom prst="roundRect">
            <a:avLst>
              <a:gd name="adj" fmla="val 8000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371600"/>
            <a:ext cx="548640" cy="548640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16152" y="1124712"/>
            <a:ext cx="312724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terminal di folder Project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11480" y="2377440"/>
            <a:ext cx="4069080" cy="1143000"/>
          </a:xfrm>
          <a:prstGeom prst="roundRect">
            <a:avLst>
              <a:gd name="adj" fmla="val 8000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670048"/>
            <a:ext cx="548640" cy="548640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670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16152" y="2423160"/>
            <a:ext cx="312724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Jalankan: python gui_predict.py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11480" y="3675888"/>
            <a:ext cx="4069080" cy="1143000"/>
          </a:xfrm>
          <a:prstGeom prst="roundRect">
            <a:avLst>
              <a:gd name="adj" fmla="val 8000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968496"/>
            <a:ext cx="548640" cy="548640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16152" y="3721608"/>
            <a:ext cx="312724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model best.pt dari folder runs/rice_detection/weights/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800600" y="1078992"/>
            <a:ext cx="4069080" cy="1143000"/>
          </a:xfrm>
          <a:prstGeom prst="roundRect">
            <a:avLst>
              <a:gd name="adj" fmla="val 8000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371600"/>
            <a:ext cx="548640" cy="548640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605272" y="1124712"/>
            <a:ext cx="312724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gambar dari folder dataset/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800600" y="2377440"/>
            <a:ext cx="4069080" cy="1143000"/>
          </a:xfrm>
          <a:prstGeom prst="roundRect">
            <a:avLst>
              <a:gd name="adj" fmla="val 8000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937760" y="2670048"/>
            <a:ext cx="548640" cy="548640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2670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605272" y="2423160"/>
            <a:ext cx="312724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Prediksi — lihat jenis beras, confidence, dan bounding box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800600" y="3675888"/>
            <a:ext cx="4069080" cy="1143000"/>
          </a:xfrm>
          <a:prstGeom prst="roundRect">
            <a:avLst>
              <a:gd name="adj" fmla="val 8000"/>
            </a:avLst>
          </a:prstGeom>
          <a:solidFill>
            <a:srgbClr val="F4FAF7"/>
          </a:solidFill>
          <a:ln w="6350">
            <a:solidFill>
              <a:srgbClr val="D0E8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937760" y="3968496"/>
            <a:ext cx="548640" cy="548640"/>
          </a:xfrm>
          <a:prstGeom prst="ellipse">
            <a:avLst/>
          </a:prstGeom>
          <a:solidFill>
            <a:srgbClr val="1A6B4A"/>
          </a:solidFill>
          <a:ln w="12700">
            <a:solidFill>
              <a:srgbClr val="1A6B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05272" y="3721608"/>
            <a:ext cx="312724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Simpan Hasil — file tersimpan di hasil_prediksi/nama_kelas/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843</Words>
  <Application>Microsoft Office PowerPoint</Application>
  <PresentationFormat>On-screen Show (16:9)</PresentationFormat>
  <Paragraphs>234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 Deteksi Jenis Beras Menggunakan YOLO</dc:title>
  <dc:subject>PptxGenJS Presentation</dc:subject>
  <dc:creator>PptxGenJS</dc:creator>
  <cp:lastModifiedBy>Yadie FR</cp:lastModifiedBy>
  <cp:revision>2</cp:revision>
  <dcterms:created xsi:type="dcterms:W3CDTF">2026-06-17T11:10:45Z</dcterms:created>
  <dcterms:modified xsi:type="dcterms:W3CDTF">2026-06-18T04:48:59Z</dcterms:modified>
</cp:coreProperties>
</file>